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s/modernComment_104_0.xml" ContentType="application/vnd.ms-powerpoint.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0"/>
  </p:notesMasterIdLst>
  <p:handoutMasterIdLst>
    <p:handoutMasterId r:id="rId21"/>
  </p:handoutMasterIdLst>
  <p:sldIdLst>
    <p:sldId id="256" r:id="rId2"/>
    <p:sldId id="257" r:id="rId3"/>
    <p:sldId id="258" r:id="rId4"/>
    <p:sldId id="259" r:id="rId5"/>
    <p:sldId id="260" r:id="rId6"/>
    <p:sldId id="272" r:id="rId7"/>
    <p:sldId id="261" r:id="rId8"/>
    <p:sldId id="270" r:id="rId9"/>
    <p:sldId id="273" r:id="rId10"/>
    <p:sldId id="271" r:id="rId11"/>
    <p:sldId id="262" r:id="rId12"/>
    <p:sldId id="263" r:id="rId13"/>
    <p:sldId id="264" r:id="rId14"/>
    <p:sldId id="269" r:id="rId15"/>
    <p:sldId id="267" r:id="rId16"/>
    <p:sldId id="268" r:id="rId17"/>
    <p:sldId id="265" r:id="rId18"/>
    <p:sldId id="266" r:id="rId19"/>
    <p:sldId id="274" r:id="rId27"/>
    <p:sldId id="275" r:id="rId28"/>
    <p:sldId id="276" r:id="rId29"/>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99E2AF-9AEB-D52D-130D-9D967858FBC0}" name="Ali Mohamadi" initials="AM" userId="S::ali.mohamadi@vollrathco.com::3f9fee22-181a-430c-a6a8-bccfcbb73cd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54" y="348"/>
      </p:cViewPr>
      <p:guideLst/>
    </p:cSldViewPr>
  </p:slideViewPr>
  <p:notesTextViewPr>
    <p:cViewPr>
      <p:scale>
        <a:sx n="1" d="1"/>
        <a:sy n="1" d="1"/>
      </p:scale>
      <p:origin x="0" y="0"/>
    </p:cViewPr>
  </p:notesTextViewPr>
  <p:notesViewPr>
    <p:cSldViewPr snapToGrid="0" snapToObjects="1">
      <p:cViewPr varScale="1">
        <p:scale>
          <a:sx n="54" d="100"/>
          <a:sy n="54" d="100"/>
        </p:scale>
        <p:origin x="3408" y="91"/>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8/10/relationships/authors" Target="authors.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s>
</file>

<file path=ppt/comments/modernComment_104_0.xml><?xml version="1.0" encoding="utf-8"?>
<p188:cmLst xmlns:a="http://schemas.openxmlformats.org/drawingml/2006/main" xmlns:r="http://schemas.openxmlformats.org/officeDocument/2006/relationships" xmlns:p188="http://schemas.microsoft.com/office/powerpoint/2018/8/main">
  <p188:cm id="{E2CCF5EF-2298-49CB-A693-40A957371849}" authorId="{CE99E2AF-9AEB-D52D-130D-9D967858FBC0}" created="2026-07-22T16:46:46.453">
    <pc:sldMkLst xmlns:pc="http://schemas.microsoft.com/office/powerpoint/2013/main/command">
      <pc:docMk/>
      <pc:sldMk cId="0" sldId="260"/>
    </pc:sldMkLst>
    <p188:txBody>
      <a:bodyPr/>
      <a:lstStyle/>
      <a:p>
        <a:r>
          <a:rPr lang="en-US"/>
          <a:t>More visuals for process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DD1DE7-6CC5-350F-02B3-63C8F175921F}"/>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FAE21A7-D2FE-9FFA-50CB-FBD988884738}"/>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9AEC2A13-B3CB-400D-B7A4-E42A2CF31D81}" type="datetimeFigureOut">
              <a:rPr lang="en-US" smtClean="0"/>
              <a:t>10/13/2026</a:t>
            </a:fld>
            <a:endParaRPr lang="en-US"/>
          </a:p>
        </p:txBody>
      </p:sp>
      <p:sp>
        <p:nvSpPr>
          <p:cNvPr id="4" name="Footer Placeholder 3">
            <a:extLst>
              <a:ext uri="{FF2B5EF4-FFF2-40B4-BE49-F238E27FC236}">
                <a16:creationId xmlns:a16="http://schemas.microsoft.com/office/drawing/2014/main" id="{14E82CB2-180C-15AB-54DC-754911BC22CD}"/>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1D3344A-C67A-6AAB-1C20-AB4614FE145F}"/>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F5FE11A3-F109-446F-BEAB-307C9D685115}" type="slidenum">
              <a:rPr lang="en-US" smtClean="0"/>
              <a:t>‹#›</a:t>
            </a:fld>
            <a:endParaRPr lang="en-US"/>
          </a:p>
        </p:txBody>
      </p:sp>
    </p:spTree>
    <p:extLst>
      <p:ext uri="{BB962C8B-B14F-4D97-AF65-F5344CB8AC3E}">
        <p14:creationId xmlns:p14="http://schemas.microsoft.com/office/powerpoint/2010/main" val="26178822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378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69662-836D-4593-013E-A3B32C4A1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22A59-2877-5971-E128-BF1BA0FC7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1710D-691C-6E53-5F23-399B913EC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1BCAFC-4454-B4B4-41C6-3B6591E163E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310782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F2145-57F7-2302-1A98-25D8B3704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E33C7-754D-F77F-D2DB-D649D68EA5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685599-73F1-DC52-8C7E-4B098644FE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4A31C5-8A3E-27C8-6633-359A3437735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4428153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32CF4-9A3F-3B4E-2503-59D839CF1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3261A-5C1A-180C-ED8F-62070EA8A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8579B-9D7B-A1D6-71FB-FDD6B65733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CEBF22-B308-E3BC-0475-C9FF5E23FF90}"/>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831644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OP_MASTER">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4000">
                <a:solidFill>
                  <a:srgbClr val="000000"/>
                </a:solidFill>
                <a:latin typeface="Calibri"/>
                <a:ea typeface="Calibri"/>
                <a:cs typeface="Calibri"/>
              </a:defRPr>
            </a:lvl1pPr>
          </a:lstStyle>
          <a:p>
            <a:pPr algn="ctr"/>
            <a:fld id="{F7021451-1387-4CA6-816F-3879F97B5CBC}" type="slidenum">
              <a:rPr lang="en-US" smtClean="0"/>
              <a:pPr algn="ctr"/>
              <a:t>‹#›</a:t>
            </a:fld>
            <a:endParaRPr lang="en-US" sz="4000" dirty="0"/>
          </a:p>
        </p:txBody>
      </p:sp>
    </p:spTree>
    <p:extLst>
      <p:ext uri="{BB962C8B-B14F-4D97-AF65-F5344CB8AC3E}">
        <p14:creationId xmlns:p14="http://schemas.microsoft.com/office/powerpoint/2010/main" val="630346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10879975" y="6446837"/>
            <a:ext cx="1312025" cy="365125"/>
          </a:xfrm>
          <a:prstGeom prst="rect">
            <a:avLst/>
          </a:prstGeom>
        </p:spPr>
        <p:txBody>
          <a:bodyPr vert="horz" lIns="91440" tIns="45720" rIns="91440" bIns="45720" rtlCol="0" anchor="ctr"/>
          <a:lstStyle>
            <a:lvl1pPr algn="r">
              <a:defRPr sz="2000">
                <a:solidFill>
                  <a:schemeClr val="tx1">
                    <a:lumMod val="95000"/>
                    <a:lumOff val="5000"/>
                  </a:schemeClr>
                </a:solidFill>
              </a:defRPr>
            </a:lvl1pPr>
          </a:lstStyle>
          <a:p>
            <a:pPr algn="ctr"/>
            <a:fld id="{F7021451-1387-4CA6-816F-3879F97B5CBC}" type="slidenum">
              <a:rPr lang="en-US" smtClean="0"/>
              <a:pPr algn="ctr"/>
              <a:t>‹#›</a:t>
            </a:fld>
            <a:endParaRPr lang="en-US" b="1"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114D95DF-34EE-78D4-1BC4-AF29A3F4164D}"/>
              </a:ext>
            </a:extLst>
          </p:cNvPr>
          <p:cNvSpPr txBox="1">
            <a:spLocks/>
          </p:cNvSpPr>
          <p:nvPr userDrawn="1"/>
        </p:nvSpPr>
        <p:spPr>
          <a:xfrm>
            <a:off x="101600" y="6446837"/>
            <a:ext cx="8407389" cy="378073"/>
          </a:xfrm>
          <a:prstGeom prst="rect">
            <a:avLst/>
          </a:prstGeom>
        </p:spPr>
        <p:txBody>
          <a:bodyPr/>
          <a:lstStyle>
            <a:defPPr>
              <a:defRPr lang="en-US"/>
            </a:defPPr>
            <a:lvl1pPr marL="0" algn="l" defTabSz="457200" rtl="0" eaLnBrk="1" latinLnBrk="0" hangingPunct="1">
              <a:defRPr sz="180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solidFill>
                  <a:schemeClr val="tx1">
                    <a:lumMod val="95000"/>
                    <a:lumOff val="5000"/>
                  </a:schemeClr>
                </a:solidFill>
              </a:rPr>
              <a:t>Edwards Vacuum Work Instruction</a:t>
            </a:r>
          </a:p>
        </p:txBody>
      </p:sp>
      <p:pic>
        <p:nvPicPr>
          <p:cNvPr id="11" name="Picture 10">
            <a:extLst>
              <a:ext uri="{FF2B5EF4-FFF2-40B4-BE49-F238E27FC236}">
                <a16:creationId xmlns:a16="http://schemas.microsoft.com/office/drawing/2014/main" id="{4A6224A9-2361-E846-FDA3-4EE927FE11D1}"/>
              </a:ext>
            </a:extLst>
          </p:cNvPr>
          <p:cNvPicPr>
            <a:picLocks noChangeAspect="1"/>
          </p:cNvPicPr>
          <p:nvPr userDrawn="1"/>
        </p:nvPicPr>
        <p:blipFill>
          <a:blip r:embed="rId3"/>
          <a:stretch/>
        </p:blipFill>
        <p:spPr>
          <a:xfrm>
            <a:off x="8623232" y="6219454"/>
            <a:ext cx="2085869" cy="701849"/>
          </a:xfrm>
          <a:prstGeom prst="rect">
            <a:avLst/>
          </a:prstGeom>
        </p:spPr>
      </p:pic>
    </p:spTree>
    <p:extLst>
      <p:ext uri="{BB962C8B-B14F-4D97-AF65-F5344CB8AC3E}">
        <p14:creationId xmlns:p14="http://schemas.microsoft.com/office/powerpoint/2010/main" val="3510247285"/>
      </p:ext>
    </p:extLst>
  </p:cSld>
  <p:clrMap bg1="lt1" tx1="dk1" bg2="lt2" tx2="dk2" accent1="accent1" accent2="accent2" accent3="accent3" accent4="accent4" accent5="accent5" accent6="accent6" hlink="hlink" folHlink="folHlink"/>
  <p:sldLayoutIdLst>
    <p:sldLayoutId id="2147483663" r:id="rId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microsoft.com/office/2018/10/relationships/comments" Target="../comments/modernComment_104_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jpeg"/><Relationship Id="rId6" Type="http://schemas.openxmlformats.org/officeDocument/2006/relationships/image" Target="../media/image1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jpeg"/><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920240"/>
            <a:ext cx="10881360" cy="457200"/>
          </a:xfrm>
          <a:prstGeom prst="rect">
            <a:avLst/>
          </a:prstGeom>
          <a:noFill/>
          <a:ln/>
        </p:spPr>
        <p:txBody>
          <a:bodyPr wrap="square"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STANDARD OPERATING PROCEDURE</a:t>
            </a:r>
            <a:endParaRPr lang="en-US" sz="1700" dirty="0"/>
          </a:p>
        </p:txBody>
      </p:sp>
      <p:sp>
        <p:nvSpPr>
          <p:cNvPr id="3" name="Text 1"/>
          <p:cNvSpPr/>
          <p:nvPr/>
        </p:nvSpPr>
        <p:spPr>
          <a:xfrm>
            <a:off x="640080" y="2395728"/>
            <a:ext cx="10881360" cy="822960"/>
          </a:xfrm>
          <a:prstGeom prst="rect">
            <a:avLst/>
          </a:prstGeom>
          <a:noFill/>
          <a:ln/>
        </p:spPr>
        <p:txBody>
          <a:bodyPr wrap="square" rtlCol="0" anchor="ctr"/>
          <a:lstStyle/>
          <a:p>
            <a:pPr marL="0" indent="0">
              <a:buNone/>
            </a:pPr>
            <a:r>
              <a:rPr lang="en-US" sz="2500" b="1" dirty="0">
                <a:solidFill>
                  <a:srgbClr val="000000"/>
                </a:solidFill>
                <a:latin typeface="Calibri" pitchFamily="34" charset="0"/>
                <a:ea typeface="Calibri" pitchFamily="34" charset="-122"/>
                <a:cs typeface="Calibri" pitchFamily="34" charset="-120"/>
              </a:rPr>
              <a:t>Progressive Belt Sanding: Part 690</a:t>
            </a:r>
            <a:endParaRPr lang="en-US" sz="2500" dirty="0"/>
          </a:p>
        </p:txBody>
      </p:sp>
      <p:sp>
        <p:nvSpPr>
          <p:cNvPr id="4" name="Text 2"/>
          <p:cNvSpPr/>
          <p:nvPr/>
        </p:nvSpPr>
        <p:spPr>
          <a:xfrm>
            <a:off x="640080" y="3429000"/>
            <a:ext cx="2377440" cy="292608"/>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Document No.</a:t>
            </a:r>
            <a:endParaRPr lang="en-US" sz="1200" dirty="0"/>
          </a:p>
        </p:txBody>
      </p:sp>
      <p:sp>
        <p:nvSpPr>
          <p:cNvPr id="5" name="Text 3"/>
          <p:cNvSpPr/>
          <p:nvPr/>
        </p:nvSpPr>
        <p:spPr>
          <a:xfrm>
            <a:off x="3108960" y="3429000"/>
            <a:ext cx="5486400" cy="292608"/>
          </a:xfrm>
          <a:prstGeom prst="rect">
            <a:avLst/>
          </a:prstGeom>
          <a:noFill/>
          <a:ln/>
        </p:spPr>
        <p:txBody>
          <a:bodyPr wrap="square" rtlCol="0" anchor="ctr"/>
          <a:lstStyle/>
          <a:p>
            <a:r>
              <a:rPr lang="en-US" sz="1200" dirty="0"/>
              <a:t>QWI 422.142</a:t>
            </a:r>
          </a:p>
        </p:txBody>
      </p:sp>
      <p:sp>
        <p:nvSpPr>
          <p:cNvPr id="6" name="Text 4"/>
          <p:cNvSpPr/>
          <p:nvPr/>
        </p:nvSpPr>
        <p:spPr>
          <a:xfrm>
            <a:off x="640080" y="3776472"/>
            <a:ext cx="2377440" cy="292608"/>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Revision</a:t>
            </a:r>
            <a:endParaRPr lang="en-US" sz="1200" dirty="0"/>
          </a:p>
        </p:txBody>
      </p:sp>
      <p:sp>
        <p:nvSpPr>
          <p:cNvPr id="7" name="Text 5"/>
          <p:cNvSpPr/>
          <p:nvPr/>
        </p:nvSpPr>
        <p:spPr>
          <a:xfrm>
            <a:off x="3108960" y="3776472"/>
            <a:ext cx="5486400" cy="292608"/>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A</a:t>
            </a:r>
            <a:endParaRPr lang="en-US" sz="1200" dirty="0"/>
          </a:p>
        </p:txBody>
      </p:sp>
      <p:sp>
        <p:nvSpPr>
          <p:cNvPr id="8" name="Text 6"/>
          <p:cNvSpPr/>
          <p:nvPr/>
        </p:nvSpPr>
        <p:spPr>
          <a:xfrm>
            <a:off x="640080" y="4123944"/>
            <a:ext cx="2377440" cy="292608"/>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Effective Date</a:t>
            </a:r>
            <a:endParaRPr lang="en-US" sz="1200" dirty="0"/>
          </a:p>
        </p:txBody>
      </p:sp>
      <p:sp>
        <p:nvSpPr>
          <p:cNvPr id="9" name="Text 7"/>
          <p:cNvSpPr/>
          <p:nvPr/>
        </p:nvSpPr>
        <p:spPr>
          <a:xfrm>
            <a:off x="3108960" y="4123944"/>
            <a:ext cx="5486400" cy="292608"/>
          </a:xfrm>
          <a:prstGeom prst="rect">
            <a:avLst/>
          </a:prstGeom>
          <a:noFill/>
          <a:ln/>
        </p:spPr>
        <p:txBody>
          <a:bodyPr wrap="square" rtlCol="0" anchor="ctr"/>
          <a:lstStyle/>
          <a:p>
            <a:pPr marL="0" indent="0">
              <a:buNone/>
            </a:pPr>
            <a:r>
              <a:rPr lang="en-US" sz="1200" dirty="0"/>
              <a:t>09/01/2026</a:t>
            </a:r>
          </a:p>
        </p:txBody>
      </p:sp>
      <p:sp>
        <p:nvSpPr>
          <p:cNvPr id="10" name="Text 8"/>
          <p:cNvSpPr/>
          <p:nvPr/>
        </p:nvSpPr>
        <p:spPr>
          <a:xfrm>
            <a:off x="640080" y="4471416"/>
            <a:ext cx="2377440" cy="292608"/>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Process Owner</a:t>
            </a:r>
            <a:endParaRPr lang="en-US" sz="1200" dirty="0"/>
          </a:p>
        </p:txBody>
      </p:sp>
      <p:sp>
        <p:nvSpPr>
          <p:cNvPr id="11" name="Text 9"/>
          <p:cNvSpPr/>
          <p:nvPr/>
        </p:nvSpPr>
        <p:spPr>
          <a:xfrm>
            <a:off x="3108960" y="4471416"/>
            <a:ext cx="5486400" cy="292608"/>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Ali Mohamadi</a:t>
            </a:r>
            <a:endParaRPr lang="en-US" sz="1200" dirty="0"/>
          </a:p>
        </p:txBody>
      </p:sp>
      <p:sp>
        <p:nvSpPr>
          <p:cNvPr id="12" name="Text 10"/>
          <p:cNvSpPr/>
          <p:nvPr/>
        </p:nvSpPr>
        <p:spPr>
          <a:xfrm>
            <a:off x="640080" y="4818888"/>
            <a:ext cx="2377440" cy="292608"/>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Approved By</a:t>
            </a:r>
            <a:endParaRPr lang="en-US" sz="1200" dirty="0"/>
          </a:p>
        </p:txBody>
      </p:sp>
      <p:sp>
        <p:nvSpPr>
          <p:cNvPr id="13" name="Text 11"/>
          <p:cNvSpPr/>
          <p:nvPr/>
        </p:nvSpPr>
        <p:spPr>
          <a:xfrm>
            <a:off x="3108960" y="4818888"/>
            <a:ext cx="5486400" cy="292608"/>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Ray </a:t>
            </a:r>
            <a:r>
              <a:rPr lang="en-US" sz="1200" dirty="0" err="1">
                <a:solidFill>
                  <a:srgbClr val="333333"/>
                </a:solidFill>
                <a:latin typeface="Calibri" pitchFamily="34" charset="0"/>
                <a:ea typeface="Calibri" pitchFamily="34" charset="-122"/>
                <a:cs typeface="Calibri" pitchFamily="34" charset="-120"/>
              </a:rPr>
              <a:t>Kolocek</a:t>
            </a:r>
            <a:r>
              <a:rPr lang="en-US" sz="1200" dirty="0">
                <a:solidFill>
                  <a:srgbClr val="333333"/>
                </a:solidFill>
                <a:latin typeface="Calibri" pitchFamily="34" charset="0"/>
                <a:ea typeface="Calibri" pitchFamily="34" charset="-122"/>
                <a:cs typeface="Calibri" pitchFamily="34" charset="-120"/>
              </a:rPr>
              <a:t>, Joseph Bolden</a:t>
            </a:r>
            <a:endParaRPr lang="en-US" sz="1200" dirty="0"/>
          </a:p>
        </p:txBody>
      </p:sp>
      <p:sp>
        <p:nvSpPr>
          <p:cNvPr id="14" name="Text 12"/>
          <p:cNvSpPr/>
          <p:nvPr/>
        </p:nvSpPr>
        <p:spPr>
          <a:xfrm>
            <a:off x="640080" y="5166360"/>
            <a:ext cx="2377440" cy="292608"/>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Department</a:t>
            </a:r>
            <a:endParaRPr lang="en-US" sz="1200" dirty="0"/>
          </a:p>
        </p:txBody>
      </p:sp>
      <p:sp>
        <p:nvSpPr>
          <p:cNvPr id="15" name="Text 13"/>
          <p:cNvSpPr/>
          <p:nvPr/>
        </p:nvSpPr>
        <p:spPr>
          <a:xfrm>
            <a:off x="3108960" y="5166360"/>
            <a:ext cx="5486400" cy="292608"/>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Engineering</a:t>
            </a:r>
            <a:endParaRPr lang="en-US" sz="1200" dirty="0"/>
          </a:p>
        </p:txBody>
      </p:sp>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Purpose and Scope</a:t>
            </a:r>
            <a:endParaRPr lang="en-US" sz="2200" dirty="0"/>
          </a:p>
        </p:txBody>
      </p:sp>
      <p:sp>
        <p:nvSpPr>
          <p:cNvPr id="3" name="Text 1"/>
          <p:cNvSpPr/>
          <p:nvPr/>
        </p:nvSpPr>
        <p:spPr>
          <a:xfrm>
            <a:off x="457200" y="1234440"/>
            <a:ext cx="5486400" cy="320040"/>
          </a:xfrm>
          <a:prstGeom prst="rect">
            <a:avLst/>
          </a:prstGeom>
          <a:noFill/>
          <a:ln/>
        </p:spPr>
        <p:txBody>
          <a:bodyPr wrap="square"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Purpose</a:t>
            </a:r>
            <a:endParaRPr lang="en-US" sz="1400" dirty="0"/>
          </a:p>
        </p:txBody>
      </p:sp>
      <p:sp>
        <p:nvSpPr>
          <p:cNvPr id="4" name="Text 2"/>
          <p:cNvSpPr/>
          <p:nvPr/>
        </p:nvSpPr>
        <p:spPr>
          <a:xfrm>
            <a:off x="457200" y="1737360"/>
            <a:ext cx="11274552" cy="731520"/>
          </a:xfrm>
          <a:prstGeom prst="rect">
            <a:avLst/>
          </a:prstGeom>
          <a:noFill/>
          <a:ln/>
        </p:spPr>
        <p:txBody>
          <a:bodyPr wrap="square" rtlCol="0" anchor="t"/>
          <a:lstStyle/>
          <a:p>
            <a:pPr marL="342900" indent="-342900">
              <a:spcAft>
                <a:spcPts val="1000"/>
              </a:spcAft>
              <a:buSzPct val="100000"/>
              <a:buChar char="•"/>
            </a:pPr>
            <a:r>
              <a:rPr lang="en-US" sz="1250" dirty="0">
                <a:solidFill>
                  <a:srgbClr val="333333"/>
                </a:solidFill>
                <a:latin typeface="Calibri" pitchFamily="34" charset="0"/>
                <a:ea typeface="Calibri" pitchFamily="34" charset="-122"/>
                <a:cs typeface="Calibri" pitchFamily="34" charset="-120"/>
              </a:rPr>
              <a:t>Define the process steps, quality checkpoints, and acceptance/rejection criteria for manual progressive belt sanding (80/120/180 grit) of part 690 prior to electropolish at the Kiel ED-Vac station.</a:t>
            </a:r>
            <a:endParaRPr lang="en-US" sz="1250" dirty="0"/>
          </a:p>
        </p:txBody>
      </p:sp>
      <p:sp>
        <p:nvSpPr>
          <p:cNvPr id="5" name="Text 3"/>
          <p:cNvSpPr/>
          <p:nvPr/>
        </p:nvSpPr>
        <p:spPr>
          <a:xfrm>
            <a:off x="457200" y="2514600"/>
            <a:ext cx="5486400" cy="320040"/>
          </a:xfrm>
          <a:prstGeom prst="rect">
            <a:avLst/>
          </a:prstGeom>
          <a:noFill/>
          <a:ln/>
        </p:spPr>
        <p:txBody>
          <a:bodyPr wrap="square"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Scope</a:t>
            </a:r>
            <a:endParaRPr lang="en-US" sz="1400" dirty="0"/>
          </a:p>
        </p:txBody>
      </p:sp>
      <p:sp>
        <p:nvSpPr>
          <p:cNvPr id="6" name="Text 4"/>
          <p:cNvSpPr/>
          <p:nvPr/>
        </p:nvSpPr>
        <p:spPr>
          <a:xfrm>
            <a:off x="457200" y="2880360"/>
            <a:ext cx="11274552" cy="1097280"/>
          </a:xfrm>
          <a:prstGeom prst="rect">
            <a:avLst/>
          </a:prstGeom>
          <a:noFill/>
          <a:ln/>
        </p:spPr>
        <p:txBody>
          <a:bodyPr wrap="square" rtlCol="0" anchor="t"/>
          <a:lstStyle/>
          <a:p>
            <a:pPr marL="342900" indent="-342900">
              <a:spcAft>
                <a:spcPts val="1000"/>
              </a:spcAft>
              <a:buSzPct val="100000"/>
              <a:buChar char="•"/>
            </a:pPr>
            <a:r>
              <a:rPr lang="en-US" sz="1250" dirty="0">
                <a:solidFill>
                  <a:srgbClr val="333333"/>
                </a:solidFill>
                <a:latin typeface="Calibri" pitchFamily="34" charset="0"/>
                <a:ea typeface="Calibri" pitchFamily="34" charset="-122"/>
                <a:cs typeface="Calibri" pitchFamily="34" charset="-120"/>
              </a:rPr>
              <a:t>Applies to part number 690 only. Part 242 is covered by a separate SOP.</a:t>
            </a:r>
            <a:endParaRPr lang="en-US" sz="1250" dirty="0"/>
          </a:p>
          <a:p>
            <a:pPr marL="342900" indent="-342900">
              <a:spcAft>
                <a:spcPts val="1000"/>
              </a:spcAft>
              <a:buSzPct val="100000"/>
              <a:buChar char="•"/>
            </a:pPr>
            <a:r>
              <a:rPr lang="en-US" sz="1250" dirty="0">
                <a:solidFill>
                  <a:srgbClr val="333333"/>
                </a:solidFill>
                <a:latin typeface="Calibri" pitchFamily="34" charset="0"/>
                <a:ea typeface="Calibri" pitchFamily="34" charset="-122"/>
                <a:cs typeface="Calibri" pitchFamily="34" charset="-120"/>
              </a:rPr>
              <a:t>Covers manual progressive belt sanding from 80 through 180 grit, ending at hand-off to wash prior to electropolish.</a:t>
            </a:r>
            <a:endParaRPr lang="en-US" sz="1250" dirty="0"/>
          </a:p>
        </p:txBody>
      </p:sp>
      <p:sp>
        <p:nvSpPr>
          <p:cNvPr id="7" name="Text 5"/>
          <p:cNvSpPr/>
          <p:nvPr/>
        </p:nvSpPr>
        <p:spPr>
          <a:xfrm>
            <a:off x="457200" y="3703320"/>
            <a:ext cx="7315200" cy="320040"/>
          </a:xfrm>
          <a:prstGeom prst="rect">
            <a:avLst/>
          </a:prstGeom>
          <a:noFill/>
          <a:ln/>
        </p:spPr>
        <p:txBody>
          <a:bodyPr wrap="square"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Roles and Responsibilities</a:t>
            </a:r>
            <a:endParaRPr lang="en-US" sz="1400" dirty="0"/>
          </a:p>
        </p:txBody>
      </p:sp>
      <p:sp>
        <p:nvSpPr>
          <p:cNvPr id="8" name="Text 6"/>
          <p:cNvSpPr/>
          <p:nvPr/>
        </p:nvSpPr>
        <p:spPr>
          <a:xfrm>
            <a:off x="457200" y="4069080"/>
            <a:ext cx="11274552" cy="2103120"/>
          </a:xfrm>
          <a:prstGeom prst="rect">
            <a:avLst/>
          </a:prstGeom>
          <a:noFill/>
          <a:ln/>
        </p:spPr>
        <p:txBody>
          <a:bodyPr wrap="square" rtlCol="0" anchor="t"/>
          <a:lstStyle/>
          <a:p>
            <a:pPr marL="342900" indent="-342900">
              <a:spcAft>
                <a:spcPts val="1000"/>
              </a:spcAft>
              <a:buSzPct val="100000"/>
              <a:buChar char="•"/>
            </a:pPr>
            <a:r>
              <a:rPr lang="en-US" sz="1250" dirty="0">
                <a:solidFill>
                  <a:srgbClr val="333333"/>
                </a:solidFill>
                <a:latin typeface="Calibri" pitchFamily="34" charset="0"/>
                <a:ea typeface="Calibri" pitchFamily="34" charset="-122"/>
                <a:cs typeface="Calibri" pitchFamily="34" charset="-120"/>
              </a:rPr>
              <a:t>Trained Operator: Performs all sanding passes, tests Ra after each grit stage to monitor belt health, and delivers finished parts to wash.</a:t>
            </a:r>
            <a:endParaRPr lang="en-US" sz="1250" dirty="0"/>
          </a:p>
          <a:p>
            <a:pPr marL="342900" indent="-342900">
              <a:spcAft>
                <a:spcPts val="1000"/>
              </a:spcAft>
              <a:buSzPct val="100000"/>
              <a:buChar char="•"/>
            </a:pPr>
            <a:r>
              <a:rPr lang="en-US" sz="1250" dirty="0">
                <a:solidFill>
                  <a:srgbClr val="333333"/>
                </a:solidFill>
                <a:latin typeface="Calibri" pitchFamily="34" charset="0"/>
                <a:ea typeface="Calibri" pitchFamily="34" charset="-122"/>
                <a:cs typeface="Calibri" pitchFamily="34" charset="-120"/>
              </a:rPr>
              <a:t>Quality Personnel: Checks a sample of parts every 100 pieces to verify parts are made correctly, and takes a sample Ra reading from a random part.</a:t>
            </a:r>
            <a:endParaRPr lang="en-US" sz="1250" dirty="0"/>
          </a:p>
        </p:txBody>
      </p:sp>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1"/>
              <a:t>2</a:t>
            </a:fld>
            <a:endParaRPr 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Safety Requirements</a:t>
            </a:r>
            <a:endParaRPr lang="en-US" sz="2200" dirty="0"/>
          </a:p>
        </p:txBody>
      </p:sp>
      <p:sp>
        <p:nvSpPr>
          <p:cNvPr id="3" name="Text 1"/>
          <p:cNvSpPr/>
          <p:nvPr/>
        </p:nvSpPr>
        <p:spPr>
          <a:xfrm>
            <a:off x="457200" y="2090166"/>
            <a:ext cx="9971532" cy="2677668"/>
          </a:xfrm>
          <a:prstGeom prst="rect">
            <a:avLst/>
          </a:prstGeom>
          <a:noFill/>
          <a:ln/>
        </p:spPr>
        <p:txBody>
          <a:bodyPr wrap="square" rtlCol="0" anchor="t"/>
          <a:lstStyle/>
          <a:p>
            <a:pPr marL="342900" indent="-342900">
              <a:spcAft>
                <a:spcPts val="1000"/>
              </a:spcAft>
              <a:buSzPct val="100000"/>
              <a:buChar char="•"/>
            </a:pPr>
            <a:r>
              <a:rPr lang="en-US" sz="1550" dirty="0">
                <a:solidFill>
                  <a:srgbClr val="333333"/>
                </a:solidFill>
                <a:latin typeface="Calibri" pitchFamily="34" charset="0"/>
                <a:ea typeface="Calibri" pitchFamily="34" charset="-122"/>
                <a:cs typeface="Calibri" pitchFamily="34" charset="-120"/>
              </a:rPr>
              <a:t>Proper PPE required for handling rotating parts and sharp metal edges.</a:t>
            </a:r>
            <a:endParaRPr lang="en-US" sz="1550" dirty="0"/>
          </a:p>
          <a:p>
            <a:pPr marL="342900" indent="-342900">
              <a:spcAft>
                <a:spcPts val="1000"/>
              </a:spcAft>
              <a:buSzPct val="100000"/>
              <a:buChar char="•"/>
            </a:pPr>
            <a:r>
              <a:rPr lang="en-US" sz="1550" dirty="0">
                <a:solidFill>
                  <a:srgbClr val="333333"/>
                </a:solidFill>
                <a:latin typeface="Calibri" pitchFamily="34" charset="0"/>
                <a:ea typeface="Calibri" pitchFamily="34" charset="-122"/>
                <a:cs typeface="Calibri" pitchFamily="34" charset="-120"/>
              </a:rPr>
              <a:t>Hearing protection required. Operation exceeds 70 dBA.</a:t>
            </a:r>
            <a:endParaRPr lang="en-US" sz="1550" dirty="0"/>
          </a:p>
          <a:p>
            <a:pPr marL="342900" indent="-342900">
              <a:spcAft>
                <a:spcPts val="1000"/>
              </a:spcAft>
              <a:buSzPct val="100000"/>
              <a:buChar char="•"/>
            </a:pPr>
            <a:r>
              <a:rPr lang="en-US" sz="1550" dirty="0">
                <a:solidFill>
                  <a:srgbClr val="333333"/>
                </a:solidFill>
                <a:latin typeface="Calibri" pitchFamily="34" charset="0"/>
                <a:ea typeface="Calibri" pitchFamily="34" charset="-122"/>
                <a:cs typeface="Calibri" pitchFamily="34" charset="-120"/>
              </a:rPr>
              <a:t>Operator must be trained on lockout/tagout (LOTO) for this machine.</a:t>
            </a:r>
            <a:endParaRPr lang="en-US" sz="1550" dirty="0"/>
          </a:p>
        </p:txBody>
      </p:sp>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Equipment and Process Parameters</a:t>
            </a:r>
            <a:endParaRPr lang="en-US" sz="2200" dirty="0"/>
          </a:p>
        </p:txBody>
      </p:sp>
      <p:sp>
        <p:nvSpPr>
          <p:cNvPr id="3" name="Text 1"/>
          <p:cNvSpPr/>
          <p:nvPr/>
        </p:nvSpPr>
        <p:spPr>
          <a:xfrm>
            <a:off x="457200" y="1234440"/>
            <a:ext cx="5486400" cy="292608"/>
          </a:xfrm>
          <a:prstGeom prst="rect">
            <a:avLst/>
          </a:prstGeom>
          <a:noFill/>
          <a:ln/>
        </p:spPr>
        <p:txBody>
          <a:bodyPr wrap="square" rtlCol="0" anchor="ctr"/>
          <a:lstStyle/>
          <a:p>
            <a:pPr marL="0" indent="0">
              <a:buNone/>
            </a:pPr>
            <a:r>
              <a:rPr lang="en-US" sz="1350" b="1" dirty="0">
                <a:solidFill>
                  <a:srgbClr val="000000"/>
                </a:solidFill>
                <a:latin typeface="Calibri" pitchFamily="34" charset="0"/>
                <a:ea typeface="Calibri" pitchFamily="34" charset="-122"/>
                <a:cs typeface="Calibri" pitchFamily="34" charset="-120"/>
              </a:rPr>
              <a:t>Equipment and Consumables</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4175893945"/>
              </p:ext>
            </p:extLst>
          </p:nvPr>
        </p:nvGraphicFramePr>
        <p:xfrm>
          <a:off x="457200" y="1600200"/>
          <a:ext cx="11274552" cy="2304288"/>
        </p:xfrm>
        <a:graphic>
          <a:graphicData uri="http://schemas.openxmlformats.org/drawingml/2006/table">
            <a:tbl>
              <a:tblPr/>
              <a:tblGrid>
                <a:gridCol w="3291840">
                  <a:extLst>
                    <a:ext uri="{9D8B030D-6E8A-4147-A177-3AD203B41FA5}">
                      <a16:colId xmlns:a16="http://schemas.microsoft.com/office/drawing/2014/main" val="20000"/>
                    </a:ext>
                  </a:extLst>
                </a:gridCol>
                <a:gridCol w="7982712">
                  <a:extLst>
                    <a:ext uri="{9D8B030D-6E8A-4147-A177-3AD203B41FA5}">
                      <a16:colId xmlns:a16="http://schemas.microsoft.com/office/drawing/2014/main" val="20001"/>
                    </a:ext>
                  </a:extLst>
                </a:gridCol>
              </a:tblGrid>
              <a:tr h="384048">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Spec / Note</a:t>
                      </a:r>
                      <a:endParaRPr lang="en-US" sz="11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Manual belt sanding machine</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Dedicated station for progressive 80/120/180 grit sanding</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80 grit belt</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2" Cubitron preferred; 1" standard belt acceptable if 2" unavailable</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120 grit belt/wheel</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2" only. No substitution</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180 grit belt/wheel</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2" only. No substitution</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Profilometer</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For Ra spot-checks by operator and quality</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2"/>
          <p:cNvSpPr/>
          <p:nvPr/>
        </p:nvSpPr>
        <p:spPr>
          <a:xfrm>
            <a:off x="457200" y="3977640"/>
            <a:ext cx="5486400" cy="292608"/>
          </a:xfrm>
          <a:prstGeom prst="rect">
            <a:avLst/>
          </a:prstGeom>
          <a:noFill/>
          <a:ln/>
        </p:spPr>
        <p:txBody>
          <a:bodyPr wrap="square" rtlCol="0" anchor="ctr"/>
          <a:lstStyle/>
          <a:p>
            <a:pPr marL="0" indent="0">
              <a:buNone/>
            </a:pPr>
            <a:r>
              <a:rPr lang="en-US" sz="1350" b="1" dirty="0">
                <a:solidFill>
                  <a:srgbClr val="000000"/>
                </a:solidFill>
                <a:latin typeface="Calibri" pitchFamily="34" charset="0"/>
                <a:ea typeface="Calibri" pitchFamily="34" charset="-122"/>
                <a:cs typeface="Calibri" pitchFamily="34" charset="-120"/>
              </a:rPr>
              <a:t>Process Parameters</a:t>
            </a:r>
            <a:endParaRPr lang="en-US" sz="1350" dirty="0"/>
          </a:p>
        </p:txBody>
      </p:sp>
      <p:graphicFrame>
        <p:nvGraphicFramePr>
          <p:cNvPr id="9" name="Table 1"/>
          <p:cNvGraphicFramePr>
            <a:graphicFrameLocks noGrp="1"/>
          </p:cNvGraphicFramePr>
          <p:nvPr>
            <p:extLst>
              <p:ext uri="{D42A27DB-BD31-4B8C-83A1-F6EECF244321}">
                <p14:modId xmlns:p14="http://schemas.microsoft.com/office/powerpoint/2010/main" val="4221766266"/>
              </p:ext>
            </p:extLst>
          </p:nvPr>
        </p:nvGraphicFramePr>
        <p:xfrm>
          <a:off x="457200" y="4344416"/>
          <a:ext cx="11274552" cy="1719070"/>
        </p:xfrm>
        <a:graphic>
          <a:graphicData uri="http://schemas.openxmlformats.org/drawingml/2006/table">
            <a:tbl>
              <a:tblPr/>
              <a:tblGrid>
                <a:gridCol w="3291840">
                  <a:extLst>
                    <a:ext uri="{9D8B030D-6E8A-4147-A177-3AD203B41FA5}">
                      <a16:colId xmlns:a16="http://schemas.microsoft.com/office/drawing/2014/main" val="20000"/>
                    </a:ext>
                  </a:extLst>
                </a:gridCol>
                <a:gridCol w="7982712">
                  <a:extLst>
                    <a:ext uri="{9D8B030D-6E8A-4147-A177-3AD203B41FA5}">
                      <a16:colId xmlns:a16="http://schemas.microsoft.com/office/drawing/2014/main" val="20001"/>
                    </a:ext>
                  </a:extLst>
                </a:gridCol>
              </a:tblGrid>
              <a:tr h="343814">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Target</a:t>
                      </a:r>
                      <a:endParaRPr lang="en-US" sz="11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43814">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Belt life</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Maximum </a:t>
                      </a:r>
                      <a:r>
                        <a:rPr lang="en-US" sz="1100" dirty="0">
                          <a:solidFill>
                            <a:srgbClr val="FF0000"/>
                          </a:solidFill>
                          <a:latin typeface="Calibri" pitchFamily="34" charset="0"/>
                          <a:ea typeface="Calibri" pitchFamily="34" charset="-122"/>
                          <a:cs typeface="Calibri" pitchFamily="34" charset="-120"/>
                        </a:rPr>
                        <a:t>20 parts</a:t>
                      </a:r>
                      <a:r>
                        <a:rPr lang="en-US" sz="1100" dirty="0">
                          <a:solidFill>
                            <a:srgbClr val="333333"/>
                          </a:solidFill>
                          <a:latin typeface="Calibri" pitchFamily="34" charset="0"/>
                          <a:ea typeface="Calibri" pitchFamily="34" charset="-122"/>
                          <a:cs typeface="Calibri" pitchFamily="34" charset="-120"/>
                        </a:rPr>
                        <a:t> per belt, then replace</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343814">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Passes per grit stage</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2 passes on the side and 2 passes on the dome, at every grit stage</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343814">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80 grit dome center</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Intentionally skipped. Do not sand; polished over during 120/180 grit stages</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r h="343814">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Ra spec (finished part)</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&lt;= </a:t>
                      </a:r>
                      <a:r>
                        <a:rPr lang="en-US" sz="1100" dirty="0">
                          <a:solidFill>
                            <a:srgbClr val="FF0000"/>
                          </a:solidFill>
                          <a:latin typeface="Calibri" pitchFamily="34" charset="0"/>
                          <a:ea typeface="Calibri" pitchFamily="34" charset="-122"/>
                          <a:cs typeface="Calibri" pitchFamily="34" charset="-120"/>
                        </a:rPr>
                        <a:t>70</a:t>
                      </a:r>
                      <a:r>
                        <a:rPr lang="en-US" sz="1100" dirty="0">
                          <a:solidFill>
                            <a:srgbClr val="333333"/>
                          </a:solidFill>
                          <a:latin typeface="Calibri" pitchFamily="34" charset="0"/>
                          <a:ea typeface="Calibri" pitchFamily="34" charset="-122"/>
                          <a:cs typeface="Calibri" pitchFamily="34" charset="-120"/>
                        </a:rPr>
                        <a:t> Ra</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4</a:t>
            </a:fld>
            <a:endParaRPr lang="en-US"/>
          </a:p>
        </p:txBody>
      </p:sp>
      <p:pic>
        <p:nvPicPr>
          <p:cNvPr id="7" name="Picture 6">
            <a:extLst>
              <a:ext uri="{FF2B5EF4-FFF2-40B4-BE49-F238E27FC236}">
                <a16:creationId xmlns:a16="http://schemas.microsoft.com/office/drawing/2014/main" id="{21080331-B25E-F4EF-47B4-D6D293701383}"/>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0011313" y="0"/>
            <a:ext cx="1562623" cy="1652054"/>
          </a:xfrm>
          <a:prstGeom prst="rect">
            <a:avLst/>
          </a:prstGeom>
        </p:spPr>
      </p:pic>
      <p:pic>
        <p:nvPicPr>
          <p:cNvPr id="10" name="Picture 9">
            <a:extLst>
              <a:ext uri="{FF2B5EF4-FFF2-40B4-BE49-F238E27FC236}">
                <a16:creationId xmlns:a16="http://schemas.microsoft.com/office/drawing/2014/main" id="{E632A8A3-DAE4-49B1-14E0-8DD4652A72EF}"/>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8292862" y="0"/>
            <a:ext cx="1539456" cy="16520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Process Steps (1 of 2)</a:t>
            </a:r>
            <a:endParaRPr lang="en-US" sz="2200" dirty="0"/>
          </a:p>
        </p:txBody>
      </p:sp>
      <p:sp>
        <p:nvSpPr>
          <p:cNvPr id="3" name="Text 1"/>
          <p:cNvSpPr/>
          <p:nvPr/>
        </p:nvSpPr>
        <p:spPr>
          <a:xfrm>
            <a:off x="457200" y="1889760"/>
            <a:ext cx="11274552" cy="4282440"/>
          </a:xfrm>
          <a:prstGeom prst="rect">
            <a:avLst/>
          </a:prstGeom>
          <a:noFill/>
          <a:ln/>
        </p:spPr>
        <p:txBody>
          <a:bodyPr wrap="square" rtlCol="0" anchor="t"/>
          <a:lstStyle/>
          <a:p>
            <a:pPr marL="342900" indent="-342900">
              <a:spcAft>
                <a:spcPts val="1000"/>
              </a:spcAft>
              <a:buSzPct val="100000"/>
              <a:buFont typeface="+mj-lt"/>
              <a:buAutoNum type="arabicPeriod"/>
            </a:pPr>
            <a:r>
              <a:rPr lang="en-US" sz="1400" dirty="0">
                <a:solidFill>
                  <a:srgbClr val="333333"/>
                </a:solidFill>
                <a:latin typeface="Calibri" pitchFamily="34" charset="0"/>
                <a:ea typeface="Calibri" pitchFamily="34" charset="-122"/>
                <a:cs typeface="Calibri" pitchFamily="34" charset="-120"/>
              </a:rPr>
              <a:t>Stage part at the manual belt sanding (MBS) station.</a:t>
            </a:r>
            <a:endParaRPr lang="en-US" sz="1400" dirty="0"/>
          </a:p>
          <a:p>
            <a:pPr marL="342900" indent="-342900">
              <a:spcAft>
                <a:spcPts val="1000"/>
              </a:spcAft>
              <a:buSzPct val="100000"/>
              <a:buFont typeface="+mj-lt"/>
              <a:buAutoNum type="arabicPeriod"/>
            </a:pPr>
            <a:r>
              <a:rPr lang="en-US" sz="1400" dirty="0">
                <a:solidFill>
                  <a:srgbClr val="333333"/>
                </a:solidFill>
                <a:latin typeface="Calibri" pitchFamily="34" charset="0"/>
                <a:ea typeface="Calibri" pitchFamily="34" charset="-122"/>
                <a:cs typeface="Calibri" pitchFamily="34" charset="-120"/>
              </a:rPr>
              <a:t>Sand at 80 grit: 2 passes on the side, 2 passes on the dome. Intentionally skip the very center of the dome. Do not sand this area at 80 grit.</a:t>
            </a:r>
            <a:endParaRPr lang="en-US" sz="1400" dirty="0"/>
          </a:p>
          <a:p>
            <a:pPr marL="342900" indent="-342900">
              <a:spcAft>
                <a:spcPts val="1000"/>
              </a:spcAft>
              <a:buSzPct val="100000"/>
              <a:buFont typeface="+mj-lt"/>
              <a:buAutoNum type="arabicPeriod"/>
            </a:pPr>
            <a:r>
              <a:rPr lang="en-US" sz="1400" dirty="0">
                <a:solidFill>
                  <a:srgbClr val="333333"/>
                </a:solidFill>
                <a:latin typeface="Calibri" pitchFamily="34" charset="0"/>
                <a:ea typeface="Calibri" pitchFamily="34" charset="-122"/>
                <a:cs typeface="Calibri" pitchFamily="34" charset="-120"/>
              </a:rPr>
              <a:t>Operator tests Ra once every </a:t>
            </a:r>
            <a:r>
              <a:rPr lang="en-US" sz="1400" dirty="0">
                <a:solidFill>
                  <a:srgbClr val="FF0000"/>
                </a:solidFill>
                <a:latin typeface="Calibri" pitchFamily="34" charset="0"/>
                <a:ea typeface="Calibri" pitchFamily="34" charset="-122"/>
                <a:cs typeface="Calibri" pitchFamily="34" charset="-120"/>
              </a:rPr>
              <a:t>20 parts</a:t>
            </a:r>
            <a:r>
              <a:rPr lang="en-US" sz="1400" dirty="0">
                <a:solidFill>
                  <a:srgbClr val="333333"/>
                </a:solidFill>
                <a:latin typeface="Calibri" pitchFamily="34" charset="0"/>
                <a:ea typeface="Calibri" pitchFamily="34" charset="-122"/>
                <a:cs typeface="Calibri" pitchFamily="34" charset="-120"/>
              </a:rPr>
              <a:t> (at belt change) after the 80 grit stage to monitor belt health.</a:t>
            </a:r>
            <a:endParaRPr lang="en-US" sz="1400" dirty="0"/>
          </a:p>
          <a:p>
            <a:pPr marL="342900" indent="-342900">
              <a:spcAft>
                <a:spcPts val="1000"/>
              </a:spcAft>
              <a:buSzPct val="100000"/>
              <a:buFont typeface="+mj-lt"/>
              <a:buAutoNum type="arabicPeriod"/>
            </a:pPr>
            <a:r>
              <a:rPr lang="en-US" sz="1400" dirty="0">
                <a:solidFill>
                  <a:srgbClr val="333333"/>
                </a:solidFill>
                <a:latin typeface="Calibri" pitchFamily="34" charset="0"/>
                <a:ea typeface="Calibri" pitchFamily="34" charset="-122"/>
                <a:cs typeface="Calibri" pitchFamily="34" charset="-120"/>
              </a:rPr>
              <a:t>Sand at 120 grit (2" belt/wheel only): 2 passes on the side, 2 passes on the dome, including the center of the dome that was skipped at 80 grit.</a:t>
            </a:r>
            <a:endParaRPr lang="en-US" sz="1400" dirty="0"/>
          </a:p>
          <a:p>
            <a:pPr marL="342900" indent="-342900">
              <a:spcAft>
                <a:spcPts val="1000"/>
              </a:spcAft>
              <a:buSzPct val="100000"/>
              <a:buFont typeface="+mj-lt"/>
              <a:buAutoNum type="arabicPeriod"/>
            </a:pPr>
            <a:r>
              <a:rPr lang="en-US" sz="1400" dirty="0">
                <a:solidFill>
                  <a:srgbClr val="333333"/>
                </a:solidFill>
                <a:latin typeface="Calibri" pitchFamily="34" charset="0"/>
                <a:ea typeface="Calibri" pitchFamily="34" charset="-122"/>
                <a:cs typeface="Calibri" pitchFamily="34" charset="-120"/>
              </a:rPr>
              <a:t>Operator tests Ra once every </a:t>
            </a:r>
            <a:r>
              <a:rPr lang="en-US" sz="1400" dirty="0">
                <a:solidFill>
                  <a:srgbClr val="FF0000"/>
                </a:solidFill>
                <a:latin typeface="Calibri" pitchFamily="34" charset="0"/>
                <a:ea typeface="Calibri" pitchFamily="34" charset="-122"/>
                <a:cs typeface="Calibri" pitchFamily="34" charset="-120"/>
              </a:rPr>
              <a:t>20 parts</a:t>
            </a:r>
            <a:r>
              <a:rPr lang="en-US" sz="1400" dirty="0">
                <a:solidFill>
                  <a:srgbClr val="333333"/>
                </a:solidFill>
                <a:latin typeface="Calibri" pitchFamily="34" charset="0"/>
                <a:ea typeface="Calibri" pitchFamily="34" charset="-122"/>
                <a:cs typeface="Calibri" pitchFamily="34" charset="-120"/>
              </a:rPr>
              <a:t> (at belt change) after the 120 grit stage to monitor belt health.</a:t>
            </a:r>
            <a:endParaRPr lang="en-US" sz="1400" dirty="0"/>
          </a:p>
          <a:p>
            <a:pPr marL="342900" indent="-342900">
              <a:spcAft>
                <a:spcPts val="1000"/>
              </a:spcAft>
              <a:buSzPct val="100000"/>
              <a:buFont typeface="+mj-lt"/>
              <a:buAutoNum type="arabicPeriod"/>
            </a:pPr>
            <a:r>
              <a:rPr lang="en-US" sz="1400" dirty="0">
                <a:solidFill>
                  <a:srgbClr val="333333"/>
                </a:solidFill>
                <a:latin typeface="Calibri" pitchFamily="34" charset="0"/>
                <a:ea typeface="Calibri" pitchFamily="34" charset="-122"/>
                <a:cs typeface="Calibri" pitchFamily="34" charset="-120"/>
              </a:rPr>
              <a:t>Sand at 180 grit (2" belt/wheel only): 2 passes on the side, 2 passes on the dome.</a:t>
            </a:r>
            <a:endParaRPr lang="en-US" sz="1400" dirty="0"/>
          </a:p>
        </p:txBody>
      </p:sp>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5</a:t>
            </a:fld>
            <a:endParaRPr lang="en-US"/>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B90244-3344-5A73-64CE-4D77C9C6861D}"/>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63629" y="1927158"/>
            <a:ext cx="2981425" cy="3975233"/>
          </a:xfrm>
          <a:prstGeom prst="rect">
            <a:avLst/>
          </a:prstGeom>
        </p:spPr>
      </p:pic>
      <p:pic>
        <p:nvPicPr>
          <p:cNvPr id="5" name="Picture 4">
            <a:extLst>
              <a:ext uri="{FF2B5EF4-FFF2-40B4-BE49-F238E27FC236}">
                <a16:creationId xmlns:a16="http://schemas.microsoft.com/office/drawing/2014/main" id="{49552968-444F-CC6B-529F-E99767607004}"/>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824376" y="3149645"/>
            <a:ext cx="3089257" cy="2980786"/>
          </a:xfrm>
          <a:prstGeom prst="rect">
            <a:avLst/>
          </a:prstGeom>
        </p:spPr>
      </p:pic>
      <p:sp>
        <p:nvSpPr>
          <p:cNvPr id="6" name="TextBox 5">
            <a:extLst>
              <a:ext uri="{FF2B5EF4-FFF2-40B4-BE49-F238E27FC236}">
                <a16:creationId xmlns:a16="http://schemas.microsoft.com/office/drawing/2014/main" id="{52315EF4-2BCE-A4D3-82AF-2CA72FCD69F9}"/>
              </a:ext>
            </a:extLst>
          </p:cNvPr>
          <p:cNvSpPr txBox="1"/>
          <p:nvPr/>
        </p:nvSpPr>
        <p:spPr>
          <a:xfrm>
            <a:off x="479764" y="1949316"/>
            <a:ext cx="1854975" cy="1200329"/>
          </a:xfrm>
          <a:prstGeom prst="rect">
            <a:avLst/>
          </a:prstGeom>
          <a:noFill/>
        </p:spPr>
        <p:txBody>
          <a:bodyPr wrap="square" rtlCol="0">
            <a:spAutoFit/>
          </a:bodyPr>
          <a:lstStyle/>
          <a:p>
            <a:r>
              <a:rPr lang="en-US" dirty="0"/>
              <a:t>Place the center locator and mark the center </a:t>
            </a:r>
          </a:p>
          <a:p>
            <a:endParaRPr lang="en-US" dirty="0"/>
          </a:p>
        </p:txBody>
      </p:sp>
      <p:sp>
        <p:nvSpPr>
          <p:cNvPr id="7" name="TextBox 6">
            <a:extLst>
              <a:ext uri="{FF2B5EF4-FFF2-40B4-BE49-F238E27FC236}">
                <a16:creationId xmlns:a16="http://schemas.microsoft.com/office/drawing/2014/main" id="{78714192-CB11-E9B6-1FD2-39C85A89EE6E}"/>
              </a:ext>
            </a:extLst>
          </p:cNvPr>
          <p:cNvSpPr txBox="1"/>
          <p:nvPr/>
        </p:nvSpPr>
        <p:spPr>
          <a:xfrm>
            <a:off x="3705225" y="1927158"/>
            <a:ext cx="3880280" cy="1200329"/>
          </a:xfrm>
          <a:prstGeom prst="rect">
            <a:avLst/>
          </a:prstGeom>
          <a:noFill/>
        </p:spPr>
        <p:txBody>
          <a:bodyPr wrap="square" rtlCol="0">
            <a:spAutoFit/>
          </a:bodyPr>
          <a:lstStyle/>
          <a:p>
            <a:r>
              <a:rPr lang="en-US" dirty="0"/>
              <a:t>Center mark should appear as a 1 inch diameter dot on the raw part and should be skipped by 80 grit belt</a:t>
            </a:r>
          </a:p>
          <a:p>
            <a:endParaRPr lang="en-US" dirty="0"/>
          </a:p>
        </p:txBody>
      </p:sp>
      <p:pic>
        <p:nvPicPr>
          <p:cNvPr id="9" name="Picture 8">
            <a:extLst>
              <a:ext uri="{FF2B5EF4-FFF2-40B4-BE49-F238E27FC236}">
                <a16:creationId xmlns:a16="http://schemas.microsoft.com/office/drawing/2014/main" id="{D1C5FC2D-1193-5E87-D64B-BE397B372CBD}"/>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8380843" y="2035174"/>
            <a:ext cx="3459956" cy="4613275"/>
          </a:xfrm>
          <a:prstGeom prst="rect">
            <a:avLst/>
          </a:prstGeom>
        </p:spPr>
      </p:pic>
      <p:sp>
        <p:nvSpPr>
          <p:cNvPr id="10" name="TextBox 9">
            <a:extLst>
              <a:ext uri="{FF2B5EF4-FFF2-40B4-BE49-F238E27FC236}">
                <a16:creationId xmlns:a16="http://schemas.microsoft.com/office/drawing/2014/main" id="{3416E663-4B87-E997-38C1-F4F9100C6701}"/>
              </a:ext>
            </a:extLst>
          </p:cNvPr>
          <p:cNvSpPr txBox="1"/>
          <p:nvPr/>
        </p:nvSpPr>
        <p:spPr>
          <a:xfrm>
            <a:off x="8791575" y="1771650"/>
            <a:ext cx="2705100" cy="1200329"/>
          </a:xfrm>
          <a:prstGeom prst="rect">
            <a:avLst/>
          </a:prstGeom>
          <a:noFill/>
        </p:spPr>
        <p:txBody>
          <a:bodyPr wrap="square" rtlCol="0">
            <a:spAutoFit/>
          </a:bodyPr>
          <a:lstStyle/>
          <a:p>
            <a:r>
              <a:rPr lang="en-US" dirty="0"/>
              <a:t>The center of the dome should be skipped and appear as raw metal after the 80 grit belt sanding </a:t>
            </a:r>
          </a:p>
        </p:txBody>
      </p:sp>
    </p:spTree>
    <p:extLst>
      <p:ext uri="{BB962C8B-B14F-4D97-AF65-F5344CB8AC3E}">
        <p14:creationId xmlns:p14="http://schemas.microsoft.com/office/powerpoint/2010/main" val="4202412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Process Steps (2 of 2)</a:t>
            </a:r>
            <a:endParaRPr lang="en-US" sz="2200" dirty="0"/>
          </a:p>
        </p:txBody>
      </p:sp>
      <p:sp>
        <p:nvSpPr>
          <p:cNvPr id="3" name="Text 1"/>
          <p:cNvSpPr/>
          <p:nvPr/>
        </p:nvSpPr>
        <p:spPr>
          <a:xfrm>
            <a:off x="457200" y="1981200"/>
            <a:ext cx="11274552" cy="4191000"/>
          </a:xfrm>
          <a:prstGeom prst="rect">
            <a:avLst/>
          </a:prstGeom>
          <a:noFill/>
          <a:ln/>
        </p:spPr>
        <p:txBody>
          <a:bodyPr wrap="square" rtlCol="0" anchor="t"/>
          <a:lstStyle/>
          <a:p>
            <a:pPr marL="342900" indent="-342900">
              <a:spcAft>
                <a:spcPts val="1000"/>
              </a:spcAft>
              <a:buSzPct val="100000"/>
              <a:buFont typeface="+mj-lt"/>
              <a:buAutoNum type="arabicPeriod" startAt="7"/>
            </a:pPr>
            <a:r>
              <a:rPr lang="en-US" sz="1400" dirty="0">
                <a:solidFill>
                  <a:srgbClr val="333333"/>
                </a:solidFill>
                <a:latin typeface="Calibri" pitchFamily="34" charset="0"/>
                <a:ea typeface="Calibri" pitchFamily="34" charset="-122"/>
                <a:cs typeface="Calibri" pitchFamily="34" charset="-120"/>
              </a:rPr>
              <a:t>Operator tests Ra once every </a:t>
            </a:r>
            <a:r>
              <a:rPr lang="en-US" sz="1400" dirty="0">
                <a:solidFill>
                  <a:srgbClr val="FF0000"/>
                </a:solidFill>
                <a:latin typeface="Calibri" pitchFamily="34" charset="0"/>
                <a:ea typeface="Calibri" pitchFamily="34" charset="-122"/>
                <a:cs typeface="Calibri" pitchFamily="34" charset="-120"/>
              </a:rPr>
              <a:t>20 parts </a:t>
            </a:r>
            <a:r>
              <a:rPr lang="en-US" sz="1400" dirty="0">
                <a:solidFill>
                  <a:srgbClr val="333333"/>
                </a:solidFill>
                <a:latin typeface="Calibri" pitchFamily="34" charset="0"/>
                <a:ea typeface="Calibri" pitchFamily="34" charset="-122"/>
                <a:cs typeface="Calibri" pitchFamily="34" charset="-120"/>
              </a:rPr>
              <a:t>(at belt change) after the 180 grit stage to monitor belt health.</a:t>
            </a:r>
            <a:endParaRPr lang="en-US" sz="1400" dirty="0"/>
          </a:p>
          <a:p>
            <a:pPr marL="342900" indent="-342900">
              <a:spcAft>
                <a:spcPts val="1000"/>
              </a:spcAft>
              <a:buSzPct val="100000"/>
              <a:buFont typeface="+mj-lt"/>
              <a:buAutoNum type="arabicPeriod" startAt="7"/>
            </a:pPr>
            <a:r>
              <a:rPr lang="en-US" sz="1400" dirty="0">
                <a:solidFill>
                  <a:srgbClr val="333333"/>
                </a:solidFill>
                <a:latin typeface="Calibri" pitchFamily="34" charset="0"/>
                <a:ea typeface="Calibri" pitchFamily="34" charset="-122"/>
                <a:cs typeface="Calibri" pitchFamily="34" charset="-120"/>
              </a:rPr>
              <a:t>Visually inspect every part after 180 grit: dome must be consistent with no dimples or burn marks and no spiral pattern; sides must show no barber pole effect.</a:t>
            </a:r>
            <a:endParaRPr lang="en-US" sz="1400" dirty="0"/>
          </a:p>
          <a:p>
            <a:pPr marL="342900" indent="-342900">
              <a:spcAft>
                <a:spcPts val="1000"/>
              </a:spcAft>
              <a:buSzPct val="100000"/>
              <a:buFont typeface="+mj-lt"/>
              <a:buAutoNum type="arabicPeriod" startAt="7"/>
            </a:pPr>
            <a:r>
              <a:rPr lang="en-US" sz="1400" dirty="0">
                <a:solidFill>
                  <a:srgbClr val="333333"/>
                </a:solidFill>
                <a:latin typeface="Calibri" pitchFamily="34" charset="0"/>
                <a:ea typeface="Calibri" pitchFamily="34" charset="-122"/>
                <a:cs typeface="Calibri" pitchFamily="34" charset="-120"/>
              </a:rPr>
              <a:t>Every 100 parts, Quality Personnel checks a sample of parts to verify they are made correctly.</a:t>
            </a:r>
            <a:endParaRPr lang="en-US" sz="1400" dirty="0"/>
          </a:p>
          <a:p>
            <a:pPr marL="342900" indent="-342900">
              <a:spcAft>
                <a:spcPts val="1000"/>
              </a:spcAft>
              <a:buSzPct val="100000"/>
              <a:buFont typeface="+mj-lt"/>
              <a:buAutoNum type="arabicPeriod" startAt="7"/>
            </a:pPr>
            <a:r>
              <a:rPr lang="en-US" sz="1400" dirty="0">
                <a:solidFill>
                  <a:srgbClr val="333333"/>
                </a:solidFill>
                <a:latin typeface="Calibri" pitchFamily="34" charset="0"/>
                <a:ea typeface="Calibri" pitchFamily="34" charset="-122"/>
                <a:cs typeface="Calibri" pitchFamily="34" charset="-120"/>
              </a:rPr>
              <a:t>Quality takes a sample Ra reading from a random part. Must be &lt;= </a:t>
            </a:r>
            <a:r>
              <a:rPr lang="en-US" sz="1400" dirty="0">
                <a:solidFill>
                  <a:srgbClr val="FF0000"/>
                </a:solidFill>
                <a:latin typeface="Calibri" pitchFamily="34" charset="0"/>
                <a:ea typeface="Calibri" pitchFamily="34" charset="-122"/>
                <a:cs typeface="Calibri" pitchFamily="34" charset="-120"/>
              </a:rPr>
              <a:t>70</a:t>
            </a:r>
            <a:r>
              <a:rPr lang="en-US" sz="1400" dirty="0">
                <a:solidFill>
                  <a:srgbClr val="333333"/>
                </a:solidFill>
                <a:latin typeface="Calibri" pitchFamily="34" charset="0"/>
                <a:ea typeface="Calibri" pitchFamily="34" charset="-122"/>
                <a:cs typeface="Calibri" pitchFamily="34" charset="-120"/>
              </a:rPr>
              <a:t> Ra.</a:t>
            </a:r>
            <a:endParaRPr lang="en-US" sz="1400" dirty="0"/>
          </a:p>
          <a:p>
            <a:pPr marL="342900" indent="-342900">
              <a:spcAft>
                <a:spcPts val="1000"/>
              </a:spcAft>
              <a:buSzPct val="100000"/>
              <a:buFont typeface="+mj-lt"/>
              <a:buAutoNum type="arabicPeriod" startAt="7"/>
            </a:pPr>
            <a:r>
              <a:rPr lang="en-US" sz="1400" dirty="0">
                <a:solidFill>
                  <a:srgbClr val="333333"/>
                </a:solidFill>
                <a:latin typeface="Calibri" pitchFamily="34" charset="0"/>
                <a:ea typeface="Calibri" pitchFamily="34" charset="-122"/>
                <a:cs typeface="Calibri" pitchFamily="34" charset="-120"/>
              </a:rPr>
              <a:t>Send parts through wash. The person delivering parts to wash is responsible for confirming wash personnel have adjusted machine height so the tops of the domes are NOT struck during washing.</a:t>
            </a:r>
            <a:endParaRPr lang="en-US" sz="1400" dirty="0"/>
          </a:p>
          <a:p>
            <a:pPr marL="342900" indent="-342900">
              <a:spcAft>
                <a:spcPts val="1000"/>
              </a:spcAft>
              <a:buSzPct val="100000"/>
              <a:buFont typeface="+mj-lt"/>
              <a:buAutoNum type="arabicPeriod" startAt="7"/>
            </a:pPr>
            <a:r>
              <a:rPr lang="en-US" sz="1400" dirty="0">
                <a:solidFill>
                  <a:srgbClr val="333333"/>
                </a:solidFill>
                <a:latin typeface="Calibri" pitchFamily="34" charset="0"/>
                <a:ea typeface="Calibri" pitchFamily="34" charset="-122"/>
                <a:cs typeface="Calibri" pitchFamily="34" charset="-120"/>
              </a:rPr>
              <a:t>Replace the belt after 20 parts. Do not exceed the belt life limit.</a:t>
            </a:r>
            <a:endParaRPr lang="en-US" sz="1400" dirty="0"/>
          </a:p>
        </p:txBody>
      </p:sp>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Side Sanding</a:t>
            </a:r>
            <a:endParaRPr lang="en-US" sz="2200" dirty="0"/>
          </a:p>
        </p:txBody>
      </p:sp>
      <p:sp>
        <p:nvSpPr>
          <p:cNvPr id="11" name="TextBox 10"/>
          <p:cNvSpPr txBox="1"/>
          <p:nvPr/>
        </p:nvSpPr>
        <p:spPr>
          <a:xfrm>
            <a:off x="457200" y="1981200"/>
            <a:ext cx="11274552" cy="369332"/>
          </a:xfrm>
          <a:prstGeom prst="rect">
            <a:avLst/>
          </a:prstGeom>
          <a:noFill/>
        </p:spPr>
        <p:txBody>
          <a:bodyPr wrap="square" rtlCol="0">
            <a:spAutoFit/>
          </a:bodyPr>
          <a:lstStyle/>
          <a:p>
            <a:pPr marL="0" indent="0">
              <a:buNone/>
            </a:pPr>
            <a:r>
              <a:rPr lang="en-US" sz="1400" dirty="0">
                <a:solidFill>
                  <a:srgbClr val="333333"/>
                </a:solidFill>
                <a:latin typeface="Calibri" pitchFamily="34" charset="0"/>
                <a:ea typeface="Calibri" pitchFamily="34" charset="-122"/>
                <a:cs typeface="Calibri" pitchFamily="34" charset="-120"/>
              </a:rPr>
              <a:t>1. </a:t>
            </a:r>
            <a:r>
              <a:rPr lang="en-US" sz="1400" b="1" dirty="0">
                <a:solidFill>
                  <a:srgbClr val="333333"/>
                </a:solidFill>
                <a:latin typeface="Calibri" pitchFamily="34" charset="0"/>
                <a:ea typeface="Calibri" pitchFamily="34" charset="-122"/>
                <a:cs typeface="Calibri" pitchFamily="34" charset="-120"/>
              </a:rPr>
              <a:t>Start at the flange side</a:t>
            </a:r>
            <a:r>
              <a:rPr lang="en-US" sz="1400" dirty="0">
                <a:solidFill>
                  <a:srgbClr val="333333"/>
                </a:solidFill>
                <a:latin typeface="Calibri" pitchFamily="34" charset="0"/>
                <a:ea typeface="Calibri" pitchFamily="34" charset="-122"/>
                <a:cs typeface="Calibri" pitchFamily="34" charset="-120"/>
              </a:rPr>
              <a:t> and sand outward to the </a:t>
            </a:r>
            <a:r>
              <a:rPr lang="en-US" sz="1400" b="1" dirty="0">
                <a:solidFill>
                  <a:srgbClr val="333333"/>
                </a:solidFill>
                <a:latin typeface="Calibri" pitchFamily="34" charset="0"/>
                <a:ea typeface="Calibri" pitchFamily="34" charset="-122"/>
                <a:cs typeface="Calibri" pitchFamily="34" charset="-120"/>
              </a:rPr>
              <a:t>edge of the dome</a:t>
            </a:r>
            <a:r>
              <a:rPr lang="en-US" sz="1400" dirty="0">
                <a:solidFill>
                  <a:srgbClr val="333333"/>
                </a:solidFill>
                <a:latin typeface="Calibri" pitchFamily="34" charset="0"/>
                <a:ea typeface="Calibri" pitchFamily="34" charset="-122"/>
                <a:cs typeface="Calibri" pitchFamily="34" charset="-120"/>
              </a:rPr>
              <a:t>, exiting the belt as shown below.</a:t>
            </a:r>
          </a:p>
        </p:txBody>
      </p:sp>
      <p:sp>
        <p:nvSpPr>
          <p:cNvPr id="30" name="Note TextBox"/>
          <p:cNvSpPr txBox="1"/>
          <p:nvPr/>
        </p:nvSpPr>
        <p:spPr>
          <a:xfrm>
            <a:off x="457200" y="2430532"/>
            <a:ext cx="11274552" cy="300000"/>
          </a:xfrm>
          <a:prstGeom prst="rect">
            <a:avLst/>
          </a:prstGeom>
          <a:noFill/>
        </p:spPr>
        <p:txBody>
          <a:bodyPr wrap="square" rtlCol="0">
            <a:spAutoFit/>
          </a:bodyPr>
          <a:lstStyle/>
          <a:p>
            <a:pPr marL="0" indent="0">
              <a:buNone/>
            </a:pPr>
            <a:r>
              <a:rPr lang="en-US" sz="1200" b="1" i="1" dirty="0">
                <a:solidFill>
                  <a:srgbClr val="555555"/>
                </a:solidFill>
                <a:latin typeface="Calibri" pitchFamily="34" charset="0"/>
                <a:ea typeface="Calibri" pitchFamily="34" charset="-122"/>
                <a:cs typeface="Calibri" pitchFamily="34" charset="-120"/>
              </a:rPr>
              <a:t>Note: </a:t>
            </a:r>
            <a:r>
              <a:rPr lang="en-US" sz="1200" i="1" dirty="0">
                <a:solidFill>
                  <a:srgbClr val="555555"/>
                </a:solidFill>
                <a:latin typeface="Calibri" pitchFamily="34" charset="0"/>
                <a:ea typeface="Calibri" pitchFamily="34" charset="-122"/>
                <a:cs typeface="Calibri" pitchFamily="34" charset="-120"/>
              </a:rPr>
              <a:t>Do this step and Dome Sanding (next slide) back-to-back, then repeat both for 2 total passes.</a:t>
            </a:r>
          </a:p>
        </p:txBody>
      </p:sp>
      <p:sp>
        <p:nvSpPr>
          <p:cNvPr id="20" name="Caption A"/>
          <p:cNvSpPr txBox="1"/>
          <p:nvPr/>
        </p:nvSpPr>
        <p:spPr>
          <a:xfrm>
            <a:off x="303085" y="5996398"/>
            <a:ext cx="3314531" cy="320000"/>
          </a:xfrm>
          <a:prstGeom prst="rect">
            <a:avLst/>
          </a:prstGeom>
          <a:noFill/>
        </p:spPr>
        <p:txBody>
          <a:bodyPr wrap="square" rtlCol="0" anchor="t"/>
          <a:lstStyle/>
          <a:p>
            <a:pPr marL="0" indent="0" algn="ctr">
              <a:buNone/>
            </a:pPr>
            <a:r>
              <a:rPr lang="en-US" sz="1200" b="1" dirty="0">
                <a:solidFill>
                  <a:srgbClr val="000000"/>
                </a:solidFill>
                <a:latin typeface="Calibri" pitchFamily="34" charset="0"/>
                <a:ea typeface="Calibri" pitchFamily="34" charset="-122"/>
                <a:cs typeface="Calibri" pitchFamily="34" charset="-120"/>
              </a:rPr>
              <a:t>Flange-side starting pass</a:t>
            </a:r>
          </a:p>
        </p:txBody>
      </p:sp>
      <p:sp>
        <p:nvSpPr>
          <p:cNvPr id="21" name="Caption B"/>
          <p:cNvSpPr txBox="1"/>
          <p:nvPr/>
        </p:nvSpPr>
        <p:spPr>
          <a:xfrm>
            <a:off x="6267112" y="5940265"/>
            <a:ext cx="2162850" cy="320000"/>
          </a:xfrm>
          <a:prstGeom prst="rect">
            <a:avLst/>
          </a:prstGeom>
          <a:noFill/>
        </p:spPr>
        <p:txBody>
          <a:bodyPr wrap="square" rtlCol="0" anchor="t"/>
          <a:lstStyle/>
          <a:p>
            <a:pPr marL="0" indent="0" algn="ctr">
              <a:buNone/>
            </a:pPr>
            <a:r>
              <a:rPr lang="en-US" sz="1200" b="1" dirty="0">
                <a:solidFill>
                  <a:srgbClr val="000000"/>
                </a:solidFill>
                <a:latin typeface="Calibri" pitchFamily="34" charset="0"/>
                <a:ea typeface="Calibri" pitchFamily="34" charset="-122"/>
                <a:cs typeface="Calibri" pitchFamily="34" charset="-120"/>
              </a:rPr>
              <a:t>Sanding off the dome edge</a:t>
            </a:r>
          </a:p>
        </p:txBody>
      </p:sp>
      <p:sp>
        <p:nvSpPr>
          <p:cNvPr id="25" name="Slide Number Placeholder 0"/>
          <p:cNvSpPr>
            <a:spLocks noGrp="1"/>
          </p:cNvSpPr>
          <p:nvPr>
            <p:ph type="sldNum" sz="quarter" idx="4294967295"/>
          </p:nvPr>
        </p:nvSpPr>
        <p:spPr>
          <a:xfrm>
            <a:off x="10469880" y="6355080"/>
            <a:ext cx="1261872" cy="429768"/>
          </a:xfrm>
          <a:prstGeom prst="rect">
            <a:avLst/>
          </a:prstGeom>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8</a:t>
            </a:fld>
            <a:endParaRPr lang="en-US"/>
          </a:p>
        </p:txBody>
      </p:sp>
      <p:pic>
        <p:nvPicPr>
          <p:cNvPr id="5" name="Picture 4">
            <a:extLst>
              <a:ext uri="{FF2B5EF4-FFF2-40B4-BE49-F238E27FC236}">
                <a16:creationId xmlns:a16="http://schemas.microsoft.com/office/drawing/2014/main" id="{B953018B-9FA3-F8D3-9396-B34DF859767B}"/>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575778" y="2817074"/>
            <a:ext cx="2319822" cy="3152925"/>
          </a:xfrm>
          <a:prstGeom prst="rect">
            <a:avLst/>
          </a:prstGeom>
        </p:spPr>
      </p:pic>
      <p:pic>
        <p:nvPicPr>
          <p:cNvPr id="8" name="Picture 7">
            <a:extLst>
              <a:ext uri="{FF2B5EF4-FFF2-40B4-BE49-F238E27FC236}">
                <a16:creationId xmlns:a16="http://schemas.microsoft.com/office/drawing/2014/main" id="{77914808-D4B3-AD76-D216-0B651D1747AD}"/>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400800" y="2580532"/>
            <a:ext cx="1895475" cy="33697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2904D-7DD3-AEF2-58DC-73B81D0F7B09}"/>
              </a:ext>
            </a:extLst>
          </p:cNvPr>
          <p:cNvSpPr txBox="1"/>
          <p:nvPr/>
        </p:nvSpPr>
        <p:spPr>
          <a:xfrm>
            <a:off x="1133475" y="1085850"/>
            <a:ext cx="3020379" cy="369332"/>
          </a:xfrm>
          <a:prstGeom prst="rect">
            <a:avLst/>
          </a:prstGeom>
          <a:noFill/>
        </p:spPr>
        <p:txBody>
          <a:bodyPr wrap="none" rtlCol="0">
            <a:spAutoFit/>
          </a:bodyPr>
          <a:lstStyle/>
          <a:p>
            <a:r>
              <a:rPr lang="en-US" dirty="0"/>
              <a:t>Sanding the dome with 80 grit</a:t>
            </a:r>
          </a:p>
        </p:txBody>
      </p:sp>
      <p:pic>
        <p:nvPicPr>
          <p:cNvPr id="4" name="Picture 3">
            <a:extLst>
              <a:ext uri="{FF2B5EF4-FFF2-40B4-BE49-F238E27FC236}">
                <a16:creationId xmlns:a16="http://schemas.microsoft.com/office/drawing/2014/main" id="{2F6F88BC-1972-B5A4-F4FD-462CCE0FF297}"/>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133475" y="2279303"/>
            <a:ext cx="2739909" cy="3721448"/>
          </a:xfrm>
          <a:prstGeom prst="rect">
            <a:avLst/>
          </a:prstGeom>
        </p:spPr>
      </p:pic>
      <p:pic>
        <p:nvPicPr>
          <p:cNvPr id="6" name="Picture 5">
            <a:extLst>
              <a:ext uri="{FF2B5EF4-FFF2-40B4-BE49-F238E27FC236}">
                <a16:creationId xmlns:a16="http://schemas.microsoft.com/office/drawing/2014/main" id="{58A5D08F-F727-C53F-FEDE-5D686B9C18BE}"/>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7527714" y="2447926"/>
            <a:ext cx="2533250" cy="3552825"/>
          </a:xfrm>
          <a:prstGeom prst="rect">
            <a:avLst/>
          </a:prstGeom>
        </p:spPr>
      </p:pic>
      <p:sp>
        <p:nvSpPr>
          <p:cNvPr id="7" name="TextBox 6">
            <a:extLst>
              <a:ext uri="{FF2B5EF4-FFF2-40B4-BE49-F238E27FC236}">
                <a16:creationId xmlns:a16="http://schemas.microsoft.com/office/drawing/2014/main" id="{6BC7BE40-8A6C-CFF8-3949-2F1525577336}"/>
              </a:ext>
            </a:extLst>
          </p:cNvPr>
          <p:cNvSpPr txBox="1"/>
          <p:nvPr/>
        </p:nvSpPr>
        <p:spPr>
          <a:xfrm>
            <a:off x="900112" y="2124760"/>
            <a:ext cx="3487104" cy="646331"/>
          </a:xfrm>
          <a:prstGeom prst="rect">
            <a:avLst/>
          </a:prstGeom>
          <a:noFill/>
        </p:spPr>
        <p:txBody>
          <a:bodyPr wrap="square" rtlCol="0">
            <a:spAutoFit/>
          </a:bodyPr>
          <a:lstStyle/>
          <a:p>
            <a:r>
              <a:rPr lang="en-US" dirty="0"/>
              <a:t>Start dome sanding at or passed the center mark</a:t>
            </a:r>
          </a:p>
        </p:txBody>
      </p:sp>
      <p:sp>
        <p:nvSpPr>
          <p:cNvPr id="8" name="TextBox 7">
            <a:extLst>
              <a:ext uri="{FF2B5EF4-FFF2-40B4-BE49-F238E27FC236}">
                <a16:creationId xmlns:a16="http://schemas.microsoft.com/office/drawing/2014/main" id="{863DACB2-C8C7-BF9B-C9DC-34F68C45D9A5}"/>
              </a:ext>
            </a:extLst>
          </p:cNvPr>
          <p:cNvSpPr txBox="1"/>
          <p:nvPr/>
        </p:nvSpPr>
        <p:spPr>
          <a:xfrm>
            <a:off x="7332471" y="2124759"/>
            <a:ext cx="2923736" cy="646331"/>
          </a:xfrm>
          <a:prstGeom prst="rect">
            <a:avLst/>
          </a:prstGeom>
          <a:noFill/>
        </p:spPr>
        <p:txBody>
          <a:bodyPr wrap="square" rtlCol="0">
            <a:spAutoFit/>
          </a:bodyPr>
          <a:lstStyle/>
          <a:p>
            <a:r>
              <a:rPr lang="en-US" dirty="0"/>
              <a:t>Finish sanding of the dome on the side </a:t>
            </a:r>
          </a:p>
        </p:txBody>
      </p:sp>
    </p:spTree>
    <p:extLst>
      <p:ext uri="{BB962C8B-B14F-4D97-AF65-F5344CB8AC3E}">
        <p14:creationId xmlns:p14="http://schemas.microsoft.com/office/powerpoint/2010/main" val="1478295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Dome Sanding</a:t>
            </a:r>
            <a:endParaRPr lang="en-US" sz="2200" dirty="0"/>
          </a:p>
        </p:txBody>
      </p:sp>
      <p:sp>
        <p:nvSpPr>
          <p:cNvPr id="7" name="TextBox 6"/>
          <p:cNvSpPr txBox="1"/>
          <p:nvPr/>
        </p:nvSpPr>
        <p:spPr>
          <a:xfrm>
            <a:off x="457200" y="1981200"/>
            <a:ext cx="7300000" cy="369332"/>
          </a:xfrm>
          <a:prstGeom prst="rect">
            <a:avLst/>
          </a:prstGeom>
          <a:noFill/>
        </p:spPr>
        <p:txBody>
          <a:bodyPr wrap="square" rtlCol="0">
            <a:spAutoFit/>
          </a:bodyPr>
          <a:lstStyle/>
          <a:p>
            <a:pPr marL="0" indent="0">
              <a:buNone/>
            </a:pPr>
            <a:r>
              <a:rPr lang="en-US" sz="1400" dirty="0">
                <a:solidFill>
                  <a:srgbClr val="333333"/>
                </a:solidFill>
                <a:latin typeface="Calibri" pitchFamily="34" charset="0"/>
                <a:ea typeface="Calibri" pitchFamily="34" charset="-122"/>
                <a:cs typeface="Calibri" pitchFamily="34" charset="-120"/>
              </a:rPr>
              <a:t>2. </a:t>
            </a:r>
            <a:r>
              <a:rPr lang="en-US" sz="1400" b="1" dirty="0">
                <a:solidFill>
                  <a:srgbClr val="333333"/>
                </a:solidFill>
                <a:latin typeface="Calibri" pitchFamily="34" charset="0"/>
                <a:ea typeface="Calibri" pitchFamily="34" charset="-122"/>
                <a:cs typeface="Calibri" pitchFamily="34" charset="-120"/>
              </a:rPr>
              <a:t>Move the belt to the center of the dome</a:t>
            </a:r>
            <a:r>
              <a:rPr lang="en-US" sz="1400" dirty="0">
                <a:solidFill>
                  <a:srgbClr val="333333"/>
                </a:solidFill>
                <a:latin typeface="Calibri" pitchFamily="34" charset="0"/>
                <a:ea typeface="Calibri" pitchFamily="34" charset="-122"/>
                <a:cs typeface="Calibri" pitchFamily="34" charset="-120"/>
              </a:rPr>
              <a:t>, then work outward to the </a:t>
            </a:r>
            <a:r>
              <a:rPr lang="en-US" sz="1400" b="1" dirty="0">
                <a:solidFill>
                  <a:srgbClr val="333333"/>
                </a:solidFill>
                <a:latin typeface="Calibri" pitchFamily="34" charset="0"/>
                <a:ea typeface="Calibri" pitchFamily="34" charset="-122"/>
                <a:cs typeface="Calibri" pitchFamily="34" charset="-120"/>
              </a:rPr>
              <a:t>edge</a:t>
            </a:r>
            <a:r>
              <a:rPr lang="en-US" sz="1400" dirty="0">
                <a:solidFill>
                  <a:srgbClr val="333333"/>
                </a:solidFill>
                <a:latin typeface="Calibri" pitchFamily="34" charset="0"/>
                <a:ea typeface="Calibri" pitchFamily="34" charset="-122"/>
                <a:cs typeface="Calibri" pitchFamily="34" charset="-120"/>
              </a:rPr>
              <a:t>.</a:t>
            </a:r>
          </a:p>
        </p:txBody>
      </p:sp>
      <p:sp>
        <p:nvSpPr>
          <p:cNvPr id="30" name="Note TextBox"/>
          <p:cNvSpPr txBox="1"/>
          <p:nvPr/>
        </p:nvSpPr>
        <p:spPr>
          <a:xfrm>
            <a:off x="457200" y="2430532"/>
            <a:ext cx="7300000" cy="300000"/>
          </a:xfrm>
          <a:prstGeom prst="rect">
            <a:avLst/>
          </a:prstGeom>
          <a:noFill/>
        </p:spPr>
        <p:txBody>
          <a:bodyPr wrap="square" rtlCol="0">
            <a:spAutoFit/>
          </a:bodyPr>
          <a:lstStyle/>
          <a:p>
            <a:pPr marL="0" indent="0">
              <a:buNone/>
            </a:pPr>
            <a:r>
              <a:rPr lang="en-US" sz="1200" b="1" i="1" dirty="0">
                <a:solidFill>
                  <a:srgbClr val="555555"/>
                </a:solidFill>
                <a:latin typeface="Calibri" pitchFamily="34" charset="0"/>
                <a:ea typeface="Calibri" pitchFamily="34" charset="-122"/>
                <a:cs typeface="Calibri" pitchFamily="34" charset="-120"/>
              </a:rPr>
              <a:t>Note: </a:t>
            </a:r>
            <a:r>
              <a:rPr lang="en-US" sz="1200" i="1" dirty="0">
                <a:solidFill>
                  <a:srgbClr val="555555"/>
                </a:solidFill>
                <a:latin typeface="Calibri" pitchFamily="34" charset="0"/>
                <a:ea typeface="Calibri" pitchFamily="34" charset="-122"/>
                <a:cs typeface="Calibri" pitchFamily="34" charset="-120"/>
              </a:rPr>
              <a:t>Do this step right after Side Sanding, then repeat both steps for 2 total passes.</a:t>
            </a:r>
          </a:p>
        </p:txBody>
      </p:sp>
      <p:pic>
        <p:nvPicPr>
          <p:cNvPr id="3" name="Picture 2"/>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750000" y="2830532"/>
            <a:ext cx="3158149" cy="3019468"/>
          </a:xfrm>
          <a:prstGeom prst="rect">
            <a:avLst/>
          </a:prstGeom>
          <a:ln w="9525">
            <a:solidFill>
              <a:srgbClr val="BFBFBF"/>
            </a:solidFill>
          </a:ln>
        </p:spPr>
      </p:pic>
      <p:sp>
        <p:nvSpPr>
          <p:cNvPr id="5" name="Conector: curvado 7"/>
          <p:cNvSpPr/>
          <p:nvPr/>
        </p:nvSpPr>
        <p:spPr>
          <a:xfrm rot="10800000">
            <a:off x="1508566" y="3829239"/>
            <a:ext cx="155803" cy="872853"/>
          </a:xfrm>
          <a:prstGeom prst="curvedConnector2">
            <a:avLst/>
          </a:prstGeom>
          <a:solidFill>
            <a:srgbClr val="E71224">
              <a:alpha val="5000"/>
            </a:srgbClr>
          </a:solidFill>
          <a:ln w="44450">
            <a:solidFill>
              <a:srgbClr val="E71224"/>
            </a:solidFill>
            <a:tailEnd type="arrow" w="lg" len="lg"/>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a:solidFill>
                <a:srgbClr val="E71224"/>
              </a:solidFill>
            </a:endParaRPr>
          </a:p>
        </p:txBody>
      </p:sp>
      <p:sp>
        <p:nvSpPr>
          <p:cNvPr id="20" name="Caption A"/>
          <p:cNvSpPr txBox="1"/>
          <p:nvPr/>
        </p:nvSpPr>
        <p:spPr>
          <a:xfrm>
            <a:off x="750000" y="5970000"/>
            <a:ext cx="3158149" cy="320000"/>
          </a:xfrm>
          <a:prstGeom prst="rect">
            <a:avLst/>
          </a:prstGeom>
          <a:noFill/>
        </p:spPr>
        <p:txBody>
          <a:bodyPr wrap="square" rtlCol="0" anchor="t"/>
          <a:lstStyle/>
          <a:p>
            <a:pPr marL="0" indent="0" algn="ctr">
              <a:buNone/>
            </a:pPr>
            <a:r>
              <a:rPr lang="en-US" sz="1200" b="1" dirty="0">
                <a:solidFill>
                  <a:srgbClr val="000000"/>
                </a:solidFill>
                <a:latin typeface="Calibri" pitchFamily="34" charset="0"/>
                <a:ea typeface="Calibri" pitchFamily="34" charset="-122"/>
                <a:cs typeface="Calibri" pitchFamily="34" charset="-120"/>
              </a:rPr>
              <a:t>Belt centered, sanding toward the edge</a:t>
            </a:r>
          </a:p>
        </p:txBody>
      </p:sp>
      <p:pic>
        <p:nvPicPr>
          <p:cNvPr id="9" name="Picture 8"/>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7632416" y="2830532"/>
            <a:ext cx="3809584" cy="3019468"/>
          </a:xfrm>
          <a:prstGeom prst="rect">
            <a:avLst/>
          </a:prstGeom>
          <a:ln w="9525">
            <a:solidFill>
              <a:srgbClr val="BFBFBF"/>
            </a:solidFill>
          </a:ln>
        </p:spPr>
      </p:pic>
      <p:sp>
        <p:nvSpPr>
          <p:cNvPr id="11" name="TextBox 10"/>
          <p:cNvSpPr txBox="1"/>
          <p:nvPr/>
        </p:nvSpPr>
        <p:spPr>
          <a:xfrm>
            <a:off x="8337208" y="2150000"/>
            <a:ext cx="2400000" cy="369332"/>
          </a:xfrm>
          <a:prstGeom prst="rect">
            <a:avLst/>
          </a:prstGeom>
          <a:noFill/>
        </p:spPr>
        <p:txBody>
          <a:bodyPr wrap="square" rtlCol="0">
            <a:spAutoFit/>
          </a:bodyPr>
          <a:lstStyle/>
          <a:p>
            <a:pPr algn="ctr"/>
            <a:r>
              <a:rPr lang="en-US" sz="1400" b="1" dirty="0">
                <a:solidFill>
                  <a:srgbClr val="000000"/>
                </a:solidFill>
                <a:latin typeface="Calibri" pitchFamily="34" charset="0"/>
                <a:ea typeface="Calibri" pitchFamily="34" charset="-122"/>
                <a:cs typeface="Calibri" pitchFamily="34" charset="-120"/>
              </a:rPr>
              <a:t>Finish sanding here</a:t>
            </a:r>
          </a:p>
        </p:txBody>
      </p:sp>
      <p:sp>
        <p:nvSpPr>
          <p:cNvPr id="21" name="Caption B"/>
          <p:cNvSpPr txBox="1"/>
          <p:nvPr/>
        </p:nvSpPr>
        <p:spPr>
          <a:xfrm>
            <a:off x="7632416" y="5970000"/>
            <a:ext cx="3809584" cy="320000"/>
          </a:xfrm>
          <a:prstGeom prst="rect">
            <a:avLst/>
          </a:prstGeom>
          <a:noFill/>
        </p:spPr>
        <p:txBody>
          <a:bodyPr wrap="square" rtlCol="0" anchor="t"/>
          <a:lstStyle/>
          <a:p>
            <a:pPr marL="0" indent="0" algn="ctr">
              <a:buNone/>
            </a:pPr>
            <a:r>
              <a:rPr lang="en-US" sz="1200" b="1" dirty="0">
                <a:solidFill>
                  <a:srgbClr val="000000"/>
                </a:solidFill>
                <a:latin typeface="Calibri" pitchFamily="34" charset="0"/>
                <a:ea typeface="Calibri" pitchFamily="34" charset="-122"/>
                <a:cs typeface="Calibri" pitchFamily="34" charset="-120"/>
              </a:rPr>
              <a:t>Reference: finished sanding pattern</a:t>
            </a:r>
          </a:p>
        </p:txBody>
      </p:sp>
      <p:sp>
        <p:nvSpPr>
          <p:cNvPr id="25" name="Slide Number Placeholder 0"/>
          <p:cNvSpPr>
            <a:spLocks noGrp="1"/>
          </p:cNvSpPr>
          <p:nvPr>
            <p:ph type="sldNum" sz="quarter" idx="4294967295"/>
          </p:nvPr>
        </p:nvSpPr>
        <p:spPr>
          <a:xfrm>
            <a:off x="10469880" y="6355080"/>
            <a:ext cx="1261872" cy="429768"/>
          </a:xfrm>
          <a:prstGeom prst="rect">
            <a:avLst/>
          </a:prstGeom>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Acceptance Criteria: Passing</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2345006332"/>
              </p:ext>
            </p:extLst>
          </p:nvPr>
        </p:nvGraphicFramePr>
        <p:xfrm>
          <a:off x="457200" y="1955800"/>
          <a:ext cx="11274552" cy="3108960"/>
        </p:xfrm>
        <a:graphic>
          <a:graphicData uri="http://schemas.openxmlformats.org/drawingml/2006/table">
            <a:tbl>
              <a:tblPr/>
              <a:tblGrid>
                <a:gridCol w="2743200">
                  <a:extLst>
                    <a:ext uri="{9D8B030D-6E8A-4147-A177-3AD203B41FA5}">
                      <a16:colId xmlns:a16="http://schemas.microsoft.com/office/drawing/2014/main" val="20000"/>
                    </a:ext>
                  </a:extLst>
                </a:gridCol>
                <a:gridCol w="5605272">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621792">
                <a:tc>
                  <a:txBody>
                    <a:bodyPr/>
                    <a:lstStyle/>
                    <a:p>
                      <a:pPr marL="0" indent="0">
                        <a:buNone/>
                      </a:pPr>
                      <a:r>
                        <a:rPr lang="en-US" sz="1250" b="1" dirty="0">
                          <a:solidFill>
                            <a:srgbClr val="000000"/>
                          </a:solidFill>
                          <a:latin typeface="Calibri" pitchFamily="34" charset="0"/>
                          <a:ea typeface="Calibri" pitchFamily="34" charset="-122"/>
                          <a:cs typeface="Calibri" pitchFamily="34" charset="-120"/>
                        </a:rPr>
                        <a:t>Characteristic</a:t>
                      </a:r>
                      <a:endParaRPr lang="en-US" sz="12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tc>
                  <a:txBody>
                    <a:bodyPr/>
                    <a:lstStyle/>
                    <a:p>
                      <a:pPr marL="0" indent="0">
                        <a:buNone/>
                      </a:pPr>
                      <a:r>
                        <a:rPr lang="en-US" sz="1250" b="1" dirty="0">
                          <a:solidFill>
                            <a:srgbClr val="000000"/>
                          </a:solidFill>
                          <a:latin typeface="Calibri" pitchFamily="34" charset="0"/>
                          <a:ea typeface="Calibri" pitchFamily="34" charset="-122"/>
                          <a:cs typeface="Calibri" pitchFamily="34" charset="-120"/>
                        </a:rPr>
                        <a:t>Pass Criteria</a:t>
                      </a:r>
                      <a:endParaRPr lang="en-US" sz="12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tc>
                  <a:txBody>
                    <a:bodyPr/>
                    <a:lstStyle/>
                    <a:p>
                      <a:pPr marL="0" indent="0">
                        <a:buNone/>
                      </a:pPr>
                      <a:r>
                        <a:rPr lang="en-US" sz="1250" b="1" dirty="0">
                          <a:solidFill>
                            <a:srgbClr val="000000"/>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621792">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Surface roughness (Ra)</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&lt;= 70 Ra</a:t>
                      </a:r>
                      <a:endParaRPr lang="en-US" sz="1200" dirty="0">
                        <a:solidFill>
                          <a:schemeClr val="tx1"/>
                        </a:solidFill>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Profilometer. Operator checks after each grit stage; Quality samples after 180 grit</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Dome condition</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Consistent finish, no dimples, no burn marks, no spiral pattern</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Visual</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Side condition</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No barber pole effect from side sanding</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Visual</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r h="621792">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Belt usage</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Belt used </a:t>
                      </a:r>
                      <a:r>
                        <a:rPr lang="en-US" sz="1200" dirty="0">
                          <a:solidFill>
                            <a:schemeClr val="tx1"/>
                          </a:solidFill>
                          <a:latin typeface="Calibri" pitchFamily="34" charset="0"/>
                          <a:ea typeface="Calibri" pitchFamily="34" charset="-122"/>
                          <a:cs typeface="Calibri" pitchFamily="34" charset="-120"/>
                        </a:rPr>
                        <a:t>for 20 parts or </a:t>
                      </a:r>
                      <a:r>
                        <a:rPr lang="en-US" sz="1200" dirty="0">
                          <a:solidFill>
                            <a:srgbClr val="333333"/>
                          </a:solidFill>
                          <a:latin typeface="Calibri" pitchFamily="34" charset="0"/>
                          <a:ea typeface="Calibri" pitchFamily="34" charset="-122"/>
                          <a:cs typeface="Calibri" pitchFamily="34" charset="-120"/>
                        </a:rPr>
                        <a:t>fewer before replacement</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Operator tracking</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Rejection Criteria: Failing</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4211876743"/>
              </p:ext>
            </p:extLst>
          </p:nvPr>
        </p:nvGraphicFramePr>
        <p:xfrm>
          <a:off x="457200" y="1856232"/>
          <a:ext cx="11274552" cy="3950208"/>
        </p:xfrm>
        <a:graphic>
          <a:graphicData uri="http://schemas.openxmlformats.org/drawingml/2006/table">
            <a:tbl>
              <a:tblPr/>
              <a:tblGrid>
                <a:gridCol w="3200400">
                  <a:extLst>
                    <a:ext uri="{9D8B030D-6E8A-4147-A177-3AD203B41FA5}">
                      <a16:colId xmlns:a16="http://schemas.microsoft.com/office/drawing/2014/main" val="20000"/>
                    </a:ext>
                  </a:extLst>
                </a:gridCol>
                <a:gridCol w="8074152">
                  <a:extLst>
                    <a:ext uri="{9D8B030D-6E8A-4147-A177-3AD203B41FA5}">
                      <a16:colId xmlns:a16="http://schemas.microsoft.com/office/drawing/2014/main" val="20001"/>
                    </a:ext>
                  </a:extLst>
                </a:gridCol>
              </a:tblGrid>
              <a:tr h="658368">
                <a:tc>
                  <a:txBody>
                    <a:bodyPr/>
                    <a:lstStyle/>
                    <a:p>
                      <a:pPr marL="0" indent="0">
                        <a:buNone/>
                      </a:pPr>
                      <a:r>
                        <a:rPr lang="en-US" sz="1250" b="1" dirty="0">
                          <a:solidFill>
                            <a:srgbClr val="000000"/>
                          </a:solidFill>
                          <a:latin typeface="Calibri" pitchFamily="34" charset="0"/>
                          <a:ea typeface="Calibri" pitchFamily="34" charset="-122"/>
                          <a:cs typeface="Calibri" pitchFamily="34" charset="-120"/>
                        </a:rPr>
                        <a:t>Defect</a:t>
                      </a:r>
                      <a:endParaRPr lang="en-US" sz="12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tc>
                  <a:txBody>
                    <a:bodyPr/>
                    <a:lstStyle/>
                    <a:p>
                      <a:pPr marL="0" indent="0">
                        <a:buNone/>
                      </a:pPr>
                      <a:r>
                        <a:rPr lang="en-US" sz="1250" b="1" dirty="0">
                          <a:solidFill>
                            <a:srgbClr val="000000"/>
                          </a:solidFill>
                          <a:latin typeface="Calibri" pitchFamily="34" charset="0"/>
                          <a:ea typeface="Calibri" pitchFamily="34" charset="-122"/>
                          <a:cs typeface="Calibri" pitchFamily="34" charset="-120"/>
                        </a:rPr>
                        <a:t>Description</a:t>
                      </a:r>
                      <a:endParaRPr lang="en-US" sz="12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658368">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Dimple in dome</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Localized depression in the dome surface</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Burn mark</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Discoloration on the part from excess heat during sanding</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Spiral pattern on dome</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Visible spiral/swirl marks on the dome surface</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Barber pole effect (side)</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Alternating banding pattern on the side from sanding passes</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4"/>
                  </a:ext>
                </a:extLst>
              </a:tr>
              <a:tr h="658368">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Ra out of spec</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333333"/>
                          </a:solidFill>
                          <a:latin typeface="Calibri" pitchFamily="34" charset="0"/>
                          <a:ea typeface="Calibri" pitchFamily="34" charset="-122"/>
                          <a:cs typeface="Calibri" pitchFamily="34" charset="-120"/>
                        </a:rPr>
                        <a:t>Reading above </a:t>
                      </a:r>
                      <a:r>
                        <a:rPr lang="en-US" sz="1200" dirty="0">
                          <a:solidFill>
                            <a:srgbClr val="FF0000"/>
                          </a:solidFill>
                          <a:latin typeface="Calibri" pitchFamily="34" charset="0"/>
                          <a:ea typeface="Calibri" pitchFamily="34" charset="-122"/>
                          <a:cs typeface="Calibri" pitchFamily="34" charset="-120"/>
                        </a:rPr>
                        <a:t>70</a:t>
                      </a:r>
                      <a:r>
                        <a:rPr lang="en-US" sz="1200" dirty="0">
                          <a:solidFill>
                            <a:srgbClr val="333333"/>
                          </a:solidFill>
                          <a:latin typeface="Calibri" pitchFamily="34" charset="0"/>
                          <a:ea typeface="Calibri" pitchFamily="34" charset="-122"/>
                          <a:cs typeface="Calibri" pitchFamily="34" charset="-120"/>
                        </a:rPr>
                        <a:t> Ra at final check</a:t>
                      </a:r>
                      <a:endParaRPr lang="en-US" sz="12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457200" y="5806440"/>
            <a:ext cx="11274552" cy="365760"/>
          </a:xfrm>
          <a:prstGeom prst="rect">
            <a:avLst/>
          </a:prstGeom>
          <a:noFill/>
          <a:ln/>
        </p:spPr>
        <p:txBody>
          <a:bodyPr wrap="square"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Any one of the above defects is sufficient grounds for rejection.</a:t>
            </a:r>
            <a:endParaRPr lang="en-US" sz="1100" dirty="0"/>
          </a:p>
        </p:txBody>
      </p:sp>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Good Part vs. Bad Part</a:t>
            </a:r>
            <a:endParaRPr lang="en-US" sz="2200" dirty="0"/>
          </a:p>
        </p:txBody>
      </p:sp>
      <p:sp>
        <p:nvSpPr>
          <p:cNvPr id="3" name="Text 1"/>
          <p:cNvSpPr/>
          <p:nvPr/>
        </p:nvSpPr>
        <p:spPr>
          <a:xfrm>
            <a:off x="457200" y="1234440"/>
            <a:ext cx="5394960" cy="320040"/>
          </a:xfrm>
          <a:prstGeom prst="rect">
            <a:avLst/>
          </a:prstGeom>
          <a:noFill/>
          <a:ln/>
        </p:spPr>
        <p:txBody>
          <a:bodyPr wrap="square"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Accept</a:t>
            </a:r>
            <a:endParaRPr lang="en-US" sz="1500" dirty="0"/>
          </a:p>
        </p:txBody>
      </p:sp>
      <p:sp>
        <p:nvSpPr>
          <p:cNvPr id="4" name="Text 2"/>
          <p:cNvSpPr/>
          <p:nvPr/>
        </p:nvSpPr>
        <p:spPr>
          <a:xfrm>
            <a:off x="457200" y="2057400"/>
            <a:ext cx="5394960" cy="2743200"/>
          </a:xfrm>
          <a:prstGeom prst="rect">
            <a:avLst/>
          </a:prstGeom>
          <a:noFill/>
          <a:ln/>
        </p:spPr>
        <p:txBody>
          <a:bodyPr wrap="square" rtlCol="0" anchor="t"/>
          <a:lstStyle/>
          <a:p>
            <a:pPr marL="342900" indent="-342900">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Consistent dome finish. No dimples, burn marks, or spiral pattern</a:t>
            </a:r>
            <a:endParaRPr lang="en-US" sz="1300" dirty="0"/>
          </a:p>
          <a:p>
            <a:pPr marL="342900" indent="-342900">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No barber pole effect on the sides</a:t>
            </a:r>
            <a:endParaRPr lang="en-US" sz="1300" dirty="0"/>
          </a:p>
          <a:p>
            <a:pPr marL="342900" indent="-342900">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Ra at or below </a:t>
            </a:r>
            <a:r>
              <a:rPr lang="en-US" sz="1300" dirty="0">
                <a:solidFill>
                  <a:srgbClr val="FF0000"/>
                </a:solidFill>
                <a:latin typeface="Calibri" pitchFamily="34" charset="0"/>
                <a:ea typeface="Calibri" pitchFamily="34" charset="-122"/>
                <a:cs typeface="Calibri" pitchFamily="34" charset="-120"/>
              </a:rPr>
              <a:t>70</a:t>
            </a:r>
            <a:r>
              <a:rPr lang="en-US" sz="1300" dirty="0">
                <a:solidFill>
                  <a:srgbClr val="333333"/>
                </a:solidFill>
                <a:latin typeface="Calibri" pitchFamily="34" charset="0"/>
                <a:ea typeface="Calibri" pitchFamily="34" charset="-122"/>
                <a:cs typeface="Calibri" pitchFamily="34" charset="-120"/>
              </a:rPr>
              <a:t> across sample checks</a:t>
            </a:r>
            <a:endParaRPr lang="en-US" sz="1300" dirty="0"/>
          </a:p>
        </p:txBody>
      </p:sp>
      <p:sp>
        <p:nvSpPr>
          <p:cNvPr id="5" name="Text 3"/>
          <p:cNvSpPr/>
          <p:nvPr/>
        </p:nvSpPr>
        <p:spPr>
          <a:xfrm>
            <a:off x="6245352" y="1234440"/>
            <a:ext cx="5394960" cy="320040"/>
          </a:xfrm>
          <a:prstGeom prst="rect">
            <a:avLst/>
          </a:prstGeom>
          <a:noFill/>
          <a:ln/>
        </p:spPr>
        <p:txBody>
          <a:bodyPr wrap="square"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Reject</a:t>
            </a:r>
            <a:endParaRPr lang="en-US" sz="1500" dirty="0"/>
          </a:p>
        </p:txBody>
      </p:sp>
      <p:sp>
        <p:nvSpPr>
          <p:cNvPr id="6" name="Text 4"/>
          <p:cNvSpPr/>
          <p:nvPr/>
        </p:nvSpPr>
        <p:spPr>
          <a:xfrm>
            <a:off x="6245352" y="2057400"/>
            <a:ext cx="5394960" cy="2743200"/>
          </a:xfrm>
          <a:prstGeom prst="rect">
            <a:avLst/>
          </a:prstGeom>
          <a:noFill/>
          <a:ln/>
        </p:spPr>
        <p:txBody>
          <a:bodyPr wrap="square" rtlCol="0" anchor="t"/>
          <a:lstStyle/>
          <a:p>
            <a:pPr marL="342900" indent="-342900">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Dimple or burn mark on the dome</a:t>
            </a:r>
            <a:endParaRPr lang="en-US" sz="1300" dirty="0"/>
          </a:p>
          <a:p>
            <a:pPr marL="342900" indent="-342900">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Spiral pattern visible on the dome</a:t>
            </a:r>
            <a:endParaRPr lang="en-US" sz="1300" dirty="0"/>
          </a:p>
          <a:p>
            <a:pPr marL="342900" indent="-342900">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Barber pole effect on the side</a:t>
            </a:r>
            <a:endParaRPr lang="en-US" sz="1300" dirty="0"/>
          </a:p>
          <a:p>
            <a:pPr marL="342900" indent="-342900">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Ra reading above </a:t>
            </a:r>
            <a:r>
              <a:rPr lang="en-US" sz="1300" dirty="0">
                <a:solidFill>
                  <a:srgbClr val="FF0000"/>
                </a:solidFill>
                <a:latin typeface="Calibri" pitchFamily="34" charset="0"/>
                <a:ea typeface="Calibri" pitchFamily="34" charset="-122"/>
                <a:cs typeface="Calibri" pitchFamily="34" charset="-120"/>
              </a:rPr>
              <a:t>70</a:t>
            </a:r>
          </a:p>
          <a:p>
            <a:pPr marL="342900" indent="-342900">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Dent and scratches</a:t>
            </a:r>
          </a:p>
          <a:p>
            <a:pPr marL="342900" indent="-342900">
              <a:spcAft>
                <a:spcPts val="1000"/>
              </a:spcAft>
              <a:buSzPct val="100000"/>
              <a:buChar char="•"/>
            </a:pPr>
            <a:endParaRPr lang="en-US" sz="1300" dirty="0"/>
          </a:p>
        </p:txBody>
      </p:sp>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3DEFC-32AA-78CB-51D9-173263CF06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B72CD50-5ABA-719C-FAD6-5CFE5F292B50}"/>
              </a:ext>
            </a:extLst>
          </p:cNvPr>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Good Part vs. Bad Part: Reference Photos</a:t>
            </a:r>
            <a:endParaRPr lang="en-US" sz="2200" dirty="0"/>
          </a:p>
        </p:txBody>
      </p:sp>
      <p:sp>
        <p:nvSpPr>
          <p:cNvPr id="3" name="Text 1">
            <a:extLst>
              <a:ext uri="{FF2B5EF4-FFF2-40B4-BE49-F238E27FC236}">
                <a16:creationId xmlns:a16="http://schemas.microsoft.com/office/drawing/2014/main" id="{C0DCBF49-8BE6-3402-D4A0-146A858C06A0}"/>
              </a:ext>
            </a:extLst>
          </p:cNvPr>
          <p:cNvSpPr/>
          <p:nvPr/>
        </p:nvSpPr>
        <p:spPr>
          <a:xfrm>
            <a:off x="457200" y="1234440"/>
            <a:ext cx="5394960" cy="320040"/>
          </a:xfrm>
          <a:prstGeom prst="rect">
            <a:avLst/>
          </a:prstGeom>
          <a:noFill/>
          <a:ln/>
        </p:spPr>
        <p:txBody>
          <a:bodyPr wrap="square"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Accept</a:t>
            </a:r>
            <a:endParaRPr lang="en-US" sz="1500" dirty="0"/>
          </a:p>
        </p:txBody>
      </p:sp>
      <p:sp>
        <p:nvSpPr>
          <p:cNvPr id="25" name="Slide Number Placeholder 0">
            <a:extLst>
              <a:ext uri="{FF2B5EF4-FFF2-40B4-BE49-F238E27FC236}">
                <a16:creationId xmlns:a16="http://schemas.microsoft.com/office/drawing/2014/main" id="{8DA59811-BAD4-5008-409B-BB203F21BA30}"/>
              </a:ext>
            </a:extLst>
          </p:cNvPr>
          <p:cNvSpPr>
            <a:spLocks noGrp="1"/>
          </p:cNvSpPr>
          <p:nvPr>
            <p:ph type="sldNum" sz="quarter" idx="4294967295"/>
          </p:nvPr>
        </p:nvSpPr>
        <p:spPr>
          <a:xfrm>
            <a:off x="10469880" y="6355080"/>
            <a:ext cx="1261872" cy="429768"/>
          </a:xfrm>
          <a:prstGeom prst="rect">
            <a:avLst/>
          </a:prstGeom>
          <a:extLst>
            <a:ext uri="{C572A759-6A51-4108-AA02-DFA0A04FC94B}">
              <ma14:wrappingTextBoxFlag xmlns="" xmlns:ma14="http://schemas.microsoft.com/office/mac/drawingml/2011/main"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14</a:t>
            </a:fld>
            <a:endParaRPr lang="en-US"/>
          </a:p>
        </p:txBody>
      </p:sp>
      <p:pic>
        <p:nvPicPr>
          <p:cNvPr id="9" name="Picture 8">
            <a:extLst>
              <a:ext uri="{FF2B5EF4-FFF2-40B4-BE49-F238E27FC236}">
                <a16:creationId xmlns:a16="http://schemas.microsoft.com/office/drawing/2014/main" id="{4521BB34-5525-F556-49F7-7B3D2D6F26A0}"/>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43138" y="3145971"/>
            <a:ext cx="2377978" cy="2155371"/>
          </a:xfrm>
          <a:prstGeom prst="rect">
            <a:avLst/>
          </a:prstGeom>
        </p:spPr>
      </p:pic>
      <p:pic>
        <p:nvPicPr>
          <p:cNvPr id="11" name="Picture 10">
            <a:extLst>
              <a:ext uri="{FF2B5EF4-FFF2-40B4-BE49-F238E27FC236}">
                <a16:creationId xmlns:a16="http://schemas.microsoft.com/office/drawing/2014/main" id="{2AE00F96-6294-C30B-3DE0-5D018250EBC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3013149" y="2756263"/>
            <a:ext cx="2999046" cy="3415937"/>
          </a:xfrm>
          <a:prstGeom prst="rect">
            <a:avLst/>
          </a:prstGeom>
        </p:spPr>
      </p:pic>
      <p:pic>
        <p:nvPicPr>
          <p:cNvPr id="13" name="Picture 12">
            <a:extLst>
              <a:ext uri="{FF2B5EF4-FFF2-40B4-BE49-F238E27FC236}">
                <a16:creationId xmlns:a16="http://schemas.microsoft.com/office/drawing/2014/main" id="{2B3CD6D0-3C4D-884C-EC39-EA7F8CDC9583}"/>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7652657" y="2425748"/>
            <a:ext cx="3118090" cy="3746452"/>
          </a:xfrm>
          <a:prstGeom prst="rect">
            <a:avLst/>
          </a:prstGeom>
        </p:spPr>
      </p:pic>
      <p:sp>
        <p:nvSpPr>
          <p:cNvPr id="14" name="TextBox 13">
            <a:extLst>
              <a:ext uri="{FF2B5EF4-FFF2-40B4-BE49-F238E27FC236}">
                <a16:creationId xmlns:a16="http://schemas.microsoft.com/office/drawing/2014/main" id="{0A25CB80-22F8-32F0-68FB-3DD417FBFB76}"/>
              </a:ext>
            </a:extLst>
          </p:cNvPr>
          <p:cNvSpPr txBox="1"/>
          <p:nvPr/>
        </p:nvSpPr>
        <p:spPr>
          <a:xfrm>
            <a:off x="243138" y="1958444"/>
            <a:ext cx="6017288" cy="369332"/>
          </a:xfrm>
          <a:prstGeom prst="rect">
            <a:avLst/>
          </a:prstGeom>
          <a:noFill/>
        </p:spPr>
        <p:txBody>
          <a:bodyPr wrap="none" rtlCol="0">
            <a:spAutoFit/>
          </a:bodyPr>
          <a:lstStyle/>
          <a:p>
            <a:r>
              <a:rPr lang="en-US" sz="1250" b="0" dirty="0">
                <a:solidFill>
                  <a:srgbClr val="333333"/>
                </a:solidFill>
                <a:latin typeface="Calibri"/>
              </a:rPr>
              <a:t>Perfect polish on the dome: no dimple, no burn mark, no spiral.</a:t>
            </a:r>
          </a:p>
        </p:txBody>
      </p:sp>
      <p:sp>
        <p:nvSpPr>
          <p:cNvPr id="15" name="TextBox 14">
            <a:extLst>
              <a:ext uri="{FF2B5EF4-FFF2-40B4-BE49-F238E27FC236}">
                <a16:creationId xmlns:a16="http://schemas.microsoft.com/office/drawing/2014/main" id="{35BA9090-CFD3-8A1F-3543-957B5F843553}"/>
              </a:ext>
            </a:extLst>
          </p:cNvPr>
          <p:cNvSpPr txBox="1"/>
          <p:nvPr/>
        </p:nvSpPr>
        <p:spPr>
          <a:xfrm>
            <a:off x="7793760" y="1819944"/>
            <a:ext cx="3227358" cy="646331"/>
          </a:xfrm>
          <a:prstGeom prst="rect">
            <a:avLst/>
          </a:prstGeom>
          <a:noFill/>
        </p:spPr>
        <p:txBody>
          <a:bodyPr wrap="none" rtlCol="0">
            <a:spAutoFit/>
          </a:bodyPr>
          <a:lstStyle/>
          <a:p>
            <a:r>
              <a:rPr lang="en-US" sz="1250" b="0" dirty="0">
                <a:solidFill>
                  <a:srgbClr val="333333"/>
                </a:solidFill>
                <a:latin typeface="Calibri"/>
              </a:rPr>
              <a:t>Perfect side polish after 180 grit.</a:t>
            </a:r>
          </a:p>
          <a:p>
            <a:r>
              <a:rPr lang="en-US" sz="1250" b="0" dirty="0">
                <a:solidFill>
                  <a:srgbClr val="333333"/>
                </a:solidFill>
                <a:latin typeface="Calibri"/>
              </a:rPr>
              <a:t>No barber poling.</a:t>
            </a:r>
          </a:p>
        </p:txBody>
      </p:sp>
    </p:spTree>
    <p:extLst>
      <p:ext uri="{BB962C8B-B14F-4D97-AF65-F5344CB8AC3E}">
        <p14:creationId xmlns:p14="http://schemas.microsoft.com/office/powerpoint/2010/main" val="1769993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5E0A-D634-892F-E6F5-DE9A1C02D9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732805-C019-DBB8-D481-52237ADC9272}"/>
              </a:ext>
            </a:extLst>
          </p:cNvPr>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Rejection Examples (1 of 2)</a:t>
            </a:r>
          </a:p>
        </p:txBody>
      </p:sp>
      <p:sp>
        <p:nvSpPr>
          <p:cNvPr id="25" name="Slide Number Placeholder 0">
            <a:extLst>
              <a:ext uri="{FF2B5EF4-FFF2-40B4-BE49-F238E27FC236}">
                <a16:creationId xmlns:a16="http://schemas.microsoft.com/office/drawing/2014/main" id="{5FB8AD70-0CAC-8561-44BE-AB6439783C47}"/>
              </a:ext>
            </a:extLst>
          </p:cNvPr>
          <p:cNvSpPr>
            <a:spLocks noGrp="1"/>
          </p:cNvSpPr>
          <p:nvPr>
            <p:ph type="sldNum" sz="quarter" idx="4294967295"/>
          </p:nvPr>
        </p:nvSpPr>
        <p:spPr>
          <a:xfrm>
            <a:off x="10469880" y="6355080"/>
            <a:ext cx="1261872" cy="429768"/>
          </a:xfrm>
          <a:prstGeom prst="rect">
            <a:avLst/>
          </a:prstGeom>
          <a:extLst>
            <a:ext uri="{C572A759-6A51-4108-AA02-DFA0A04FC94B}">
              <ma14:wrappingTextBoxFlag xmlns="" xmlns:ma14="http://schemas.microsoft.com/office/mac/drawingml/2011/main"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15</a:t>
            </a:fld>
            <a:endParaRPr lang="en-US"/>
          </a:p>
        </p:txBody>
      </p:sp>
      <p:pic>
        <p:nvPicPr>
          <p:cNvPr id="11" name="Picture 10">
            <a:extLst>
              <a:ext uri="{FF2B5EF4-FFF2-40B4-BE49-F238E27FC236}">
                <a16:creationId xmlns:a16="http://schemas.microsoft.com/office/drawing/2014/main" id="{B7EC59AD-9CA0-B131-63CC-560D9BF0DFF2}"/>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7538878" y="2831240"/>
            <a:ext cx="4107898" cy="26701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3" name="Picture 12">
            <a:extLst>
              <a:ext uri="{FF2B5EF4-FFF2-40B4-BE49-F238E27FC236}">
                <a16:creationId xmlns:a16="http://schemas.microsoft.com/office/drawing/2014/main" id="{0CF91C7A-989B-11AC-0D55-F7A44E7131E9}"/>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57200" y="2367339"/>
            <a:ext cx="4277254" cy="32777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5" name="Picture 14">
            <a:extLst>
              <a:ext uri="{FF2B5EF4-FFF2-40B4-BE49-F238E27FC236}">
                <a16:creationId xmlns:a16="http://schemas.microsoft.com/office/drawing/2014/main" id="{37D3D11A-E51C-364B-704C-9DD550E7A80D}"/>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4918104" y="3800437"/>
            <a:ext cx="1763433" cy="18446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7" name="Picture 16">
            <a:extLst>
              <a:ext uri="{FF2B5EF4-FFF2-40B4-BE49-F238E27FC236}">
                <a16:creationId xmlns:a16="http://schemas.microsoft.com/office/drawing/2014/main" id="{87638796-45D7-D8D4-83CF-3FB8F55FEC73}"/>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5114564" y="2372228"/>
            <a:ext cx="1370511" cy="1286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8" name="TextBox 17">
            <a:extLst>
              <a:ext uri="{FF2B5EF4-FFF2-40B4-BE49-F238E27FC236}">
                <a16:creationId xmlns:a16="http://schemas.microsoft.com/office/drawing/2014/main" id="{99020C65-E40B-13E1-4F7B-54133D435B1C}"/>
              </a:ext>
            </a:extLst>
          </p:cNvPr>
          <p:cNvSpPr txBox="1"/>
          <p:nvPr/>
        </p:nvSpPr>
        <p:spPr>
          <a:xfrm>
            <a:off x="122222" y="1841018"/>
            <a:ext cx="5201216" cy="369332"/>
          </a:xfrm>
          <a:prstGeom prst="rect">
            <a:avLst/>
          </a:prstGeom>
          <a:noFill/>
        </p:spPr>
        <p:txBody>
          <a:bodyPr wrap="square" rtlCol="0">
            <a:spAutoFit/>
          </a:bodyPr>
          <a:lstStyle/>
          <a:p>
            <a:r>
              <a:rPr lang="en-US" sz="1250" b="0" dirty="0">
                <a:solidFill>
                  <a:srgbClr val="333333"/>
                </a:solidFill>
                <a:latin typeface="Calibri"/>
              </a:rPr>
              <a:t>Spiral effect due to a fast belt pass over the dome.</a:t>
            </a:r>
          </a:p>
        </p:txBody>
      </p:sp>
      <p:sp>
        <p:nvSpPr>
          <p:cNvPr id="19" name="TextBox 18">
            <a:extLst>
              <a:ext uri="{FF2B5EF4-FFF2-40B4-BE49-F238E27FC236}">
                <a16:creationId xmlns:a16="http://schemas.microsoft.com/office/drawing/2014/main" id="{601B17FC-4B1D-31C5-E814-0E20A1F25C25}"/>
              </a:ext>
            </a:extLst>
          </p:cNvPr>
          <p:cNvSpPr txBox="1"/>
          <p:nvPr/>
        </p:nvSpPr>
        <p:spPr>
          <a:xfrm>
            <a:off x="8630287" y="2002423"/>
            <a:ext cx="1925079" cy="369332"/>
          </a:xfrm>
          <a:prstGeom prst="rect">
            <a:avLst/>
          </a:prstGeom>
          <a:noFill/>
        </p:spPr>
        <p:txBody>
          <a:bodyPr wrap="none" rtlCol="0">
            <a:spAutoFit/>
          </a:bodyPr>
          <a:lstStyle/>
          <a:p>
            <a:r>
              <a:rPr lang="en-US" sz="1250" b="0" dirty="0">
                <a:solidFill>
                  <a:srgbClr val="333333"/>
                </a:solidFill>
                <a:latin typeface="Calibri"/>
              </a:rPr>
              <a:t>Barber pole effect.</a:t>
            </a:r>
          </a:p>
        </p:txBody>
      </p:sp>
    </p:spTree>
    <p:extLst>
      <p:ext uri="{BB962C8B-B14F-4D97-AF65-F5344CB8AC3E}">
        <p14:creationId xmlns:p14="http://schemas.microsoft.com/office/powerpoint/2010/main" val="3009347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AC897-DD8F-7284-DB9B-0C9E976B3E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36988A-142D-9DE3-989F-1EAC3E932956}"/>
              </a:ext>
            </a:extLst>
          </p:cNvPr>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Rejection Examples (2 of 2)</a:t>
            </a:r>
          </a:p>
        </p:txBody>
      </p:sp>
      <p:sp>
        <p:nvSpPr>
          <p:cNvPr id="25" name="Slide Number Placeholder 0">
            <a:extLst>
              <a:ext uri="{FF2B5EF4-FFF2-40B4-BE49-F238E27FC236}">
                <a16:creationId xmlns:a16="http://schemas.microsoft.com/office/drawing/2014/main" id="{A7528A0B-311D-0B03-6C20-DAEF2D483516}"/>
              </a:ext>
            </a:extLst>
          </p:cNvPr>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16</a:t>
            </a:fld>
            <a:endParaRPr lang="en-US"/>
          </a:p>
        </p:txBody>
      </p:sp>
      <p:pic>
        <p:nvPicPr>
          <p:cNvPr id="4" name="Picture 3">
            <a:extLst>
              <a:ext uri="{FF2B5EF4-FFF2-40B4-BE49-F238E27FC236}">
                <a16:creationId xmlns:a16="http://schemas.microsoft.com/office/drawing/2014/main" id="{88C23ED7-0C35-3BE5-FF51-B0E100274B1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7491289" y="2945998"/>
            <a:ext cx="2978591" cy="2851840"/>
          </a:xfrm>
          <a:prstGeom prst="rect">
            <a:avLst/>
          </a:prstGeom>
          <a:ln w="57150" cap="sq">
            <a:solidFill>
              <a:srgbClr val="000000"/>
            </a:solidFill>
            <a:miter lim="800000"/>
          </a:ln>
          <a:effectLst>
            <a:outerShdw blurRad="57150" dist="50800" dir="2700000" algn="tl" rotWithShape="0">
              <a:srgbClr val="000000">
                <a:alpha val="40000"/>
              </a:srgbClr>
            </a:outerShdw>
          </a:effectLst>
        </p:spPr>
      </p:pic>
      <p:pic>
        <p:nvPicPr>
          <p:cNvPr id="6" name="Picture 5">
            <a:extLst>
              <a:ext uri="{FF2B5EF4-FFF2-40B4-BE49-F238E27FC236}">
                <a16:creationId xmlns:a16="http://schemas.microsoft.com/office/drawing/2014/main" id="{856CDD29-5DE1-223C-BBB9-C0B5ED1763CD}"/>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128556" y="2879002"/>
            <a:ext cx="3302803" cy="2918836"/>
          </a:xfrm>
          <a:prstGeom prst="rect">
            <a:avLst/>
          </a:prstGeom>
          <a:ln w="57150" cap="sq">
            <a:solidFill>
              <a:srgbClr val="000000"/>
            </a:solidFill>
            <a:miter lim="800000"/>
          </a:ln>
          <a:effectLst>
            <a:outerShdw blurRad="57150" dist="50800" dir="2700000" algn="tl" rotWithShape="0">
              <a:srgbClr val="000000">
                <a:alpha val="40000"/>
              </a:srgbClr>
            </a:outerShdw>
          </a:effectLst>
        </p:spPr>
      </p:pic>
      <p:sp>
        <p:nvSpPr>
          <p:cNvPr id="7" name="TextBox 6">
            <a:extLst>
              <a:ext uri="{FF2B5EF4-FFF2-40B4-BE49-F238E27FC236}">
                <a16:creationId xmlns:a16="http://schemas.microsoft.com/office/drawing/2014/main" id="{632CF5F2-1699-26A7-CFDA-63C0B5F315BD}"/>
              </a:ext>
            </a:extLst>
          </p:cNvPr>
          <p:cNvSpPr txBox="1"/>
          <p:nvPr/>
        </p:nvSpPr>
        <p:spPr>
          <a:xfrm>
            <a:off x="599360" y="2151128"/>
            <a:ext cx="4361194" cy="369332"/>
          </a:xfrm>
          <a:prstGeom prst="rect">
            <a:avLst/>
          </a:prstGeom>
          <a:noFill/>
        </p:spPr>
        <p:txBody>
          <a:bodyPr wrap="none" rtlCol="0">
            <a:spAutoFit/>
          </a:bodyPr>
          <a:lstStyle/>
          <a:p>
            <a:r>
              <a:rPr lang="en-US" sz="1250" b="0" dirty="0">
                <a:solidFill>
                  <a:srgbClr val="333333"/>
                </a:solidFill>
                <a:latin typeface="Calibri"/>
              </a:rPr>
              <a:t>Dent that cannot be removed with an 80 grit pass.</a:t>
            </a:r>
          </a:p>
        </p:txBody>
      </p:sp>
      <p:sp>
        <p:nvSpPr>
          <p:cNvPr id="8" name="TextBox 7">
            <a:extLst>
              <a:ext uri="{FF2B5EF4-FFF2-40B4-BE49-F238E27FC236}">
                <a16:creationId xmlns:a16="http://schemas.microsoft.com/office/drawing/2014/main" id="{712824FE-9330-C428-A29B-D6F29A4DFEAC}"/>
              </a:ext>
            </a:extLst>
          </p:cNvPr>
          <p:cNvSpPr txBox="1"/>
          <p:nvPr/>
        </p:nvSpPr>
        <p:spPr>
          <a:xfrm>
            <a:off x="6703058" y="2065590"/>
            <a:ext cx="4555051" cy="646331"/>
          </a:xfrm>
          <a:prstGeom prst="rect">
            <a:avLst/>
          </a:prstGeom>
          <a:noFill/>
        </p:spPr>
        <p:txBody>
          <a:bodyPr wrap="square" rtlCol="0">
            <a:spAutoFit/>
          </a:bodyPr>
          <a:lstStyle/>
          <a:p>
            <a:pPr algn="ctr"/>
            <a:r>
              <a:rPr lang="en-US" sz="1250" b="0" dirty="0">
                <a:solidFill>
                  <a:srgbClr val="333333"/>
                </a:solidFill>
                <a:latin typeface="Calibri"/>
              </a:rPr>
              <a:t>Burn mark after 180 grit sanding due to a slow pass on the dome.</a:t>
            </a:r>
          </a:p>
        </p:txBody>
      </p:sp>
    </p:spTree>
    <p:extLst>
      <p:ext uri="{BB962C8B-B14F-4D97-AF65-F5344CB8AC3E}">
        <p14:creationId xmlns:p14="http://schemas.microsoft.com/office/powerpoint/2010/main" val="3339248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Inspection Method</a:t>
            </a:r>
            <a:endParaRPr lang="en-US" sz="2200" dirty="0"/>
          </a:p>
        </p:txBody>
      </p:sp>
      <p:sp>
        <p:nvSpPr>
          <p:cNvPr id="3" name="Text 1"/>
          <p:cNvSpPr/>
          <p:nvPr/>
        </p:nvSpPr>
        <p:spPr>
          <a:xfrm>
            <a:off x="457200" y="1920240"/>
            <a:ext cx="5486400" cy="292608"/>
          </a:xfrm>
          <a:prstGeom prst="rect">
            <a:avLst/>
          </a:prstGeom>
          <a:noFill/>
          <a:ln/>
        </p:spPr>
        <p:txBody>
          <a:bodyPr wrap="square" rtlCol="0" anchor="ctr"/>
          <a:lstStyle/>
          <a:p>
            <a:pPr marL="0" indent="0">
              <a:buNone/>
            </a:pPr>
            <a:r>
              <a:rPr lang="en-US" sz="1350" b="1" dirty="0">
                <a:solidFill>
                  <a:srgbClr val="000000"/>
                </a:solidFill>
                <a:latin typeface="Calibri" pitchFamily="34" charset="0"/>
                <a:ea typeface="Calibri" pitchFamily="34" charset="-122"/>
                <a:cs typeface="Calibri" pitchFamily="34" charset="-120"/>
              </a:rPr>
              <a:t>Visual Inspection</a:t>
            </a:r>
            <a:endParaRPr lang="en-US" sz="1350" dirty="0"/>
          </a:p>
        </p:txBody>
      </p:sp>
      <p:sp>
        <p:nvSpPr>
          <p:cNvPr id="4" name="Text 2"/>
          <p:cNvSpPr/>
          <p:nvPr/>
        </p:nvSpPr>
        <p:spPr>
          <a:xfrm>
            <a:off x="457200" y="2286000"/>
            <a:ext cx="11274552" cy="1371600"/>
          </a:xfrm>
          <a:prstGeom prst="rect">
            <a:avLst/>
          </a:prstGeom>
          <a:noFill/>
          <a:ln/>
        </p:spPr>
        <p:txBody>
          <a:bodyPr wrap="square" rtlCol="0" anchor="t"/>
          <a:lstStyle/>
          <a:p>
            <a:pPr marL="342900" indent="-342900">
              <a:spcAft>
                <a:spcPts val="1000"/>
              </a:spcAft>
              <a:buSzPct val="100000"/>
              <a:buChar char="•"/>
            </a:pPr>
            <a:r>
              <a:rPr lang="en-US" sz="1250" dirty="0">
                <a:solidFill>
                  <a:srgbClr val="333333"/>
                </a:solidFill>
                <a:latin typeface="Calibri" pitchFamily="34" charset="0"/>
                <a:ea typeface="Calibri" pitchFamily="34" charset="-122"/>
                <a:cs typeface="Calibri" pitchFamily="34" charset="-120"/>
              </a:rPr>
              <a:t>Inspect every part after 180 grit for dome consistency (no dimples, burn marks, or spiral) and side condition (no barber pole effect).</a:t>
            </a:r>
            <a:endParaRPr lang="en-US" sz="1250" dirty="0"/>
          </a:p>
          <a:p>
            <a:pPr marL="342900" indent="-342900">
              <a:spcAft>
                <a:spcPts val="1000"/>
              </a:spcAft>
              <a:buSzPct val="100000"/>
              <a:buChar char="•"/>
            </a:pPr>
            <a:r>
              <a:rPr lang="en-US" sz="1250" dirty="0">
                <a:solidFill>
                  <a:srgbClr val="333333"/>
                </a:solidFill>
                <a:latin typeface="Calibri" pitchFamily="34" charset="0"/>
                <a:ea typeface="Calibri" pitchFamily="34" charset="-122"/>
                <a:cs typeface="Calibri" pitchFamily="34" charset="-120"/>
              </a:rPr>
              <a:t>Quality personnel visually check a sample of parts every 100 pieces, and with profilometer.</a:t>
            </a:r>
            <a:endParaRPr lang="en-US" sz="1250" dirty="0"/>
          </a:p>
        </p:txBody>
      </p:sp>
      <p:sp>
        <p:nvSpPr>
          <p:cNvPr id="5" name="Text 3"/>
          <p:cNvSpPr/>
          <p:nvPr/>
        </p:nvSpPr>
        <p:spPr>
          <a:xfrm>
            <a:off x="457200" y="3154680"/>
            <a:ext cx="5486400" cy="292608"/>
          </a:xfrm>
          <a:prstGeom prst="rect">
            <a:avLst/>
          </a:prstGeom>
          <a:noFill/>
          <a:ln/>
        </p:spPr>
        <p:txBody>
          <a:bodyPr wrap="square" rtlCol="0" anchor="ctr"/>
          <a:lstStyle/>
          <a:p>
            <a:pPr marL="0" indent="0">
              <a:buNone/>
            </a:pPr>
            <a:r>
              <a:rPr lang="en-US" sz="1350" b="1" dirty="0">
                <a:solidFill>
                  <a:srgbClr val="000000"/>
                </a:solidFill>
                <a:latin typeface="Calibri" pitchFamily="34" charset="0"/>
                <a:ea typeface="Calibri" pitchFamily="34" charset="-122"/>
                <a:cs typeface="Calibri" pitchFamily="34" charset="-120"/>
              </a:rPr>
              <a:t>Measurement</a:t>
            </a:r>
            <a:endParaRPr lang="en-US" sz="1350" dirty="0"/>
          </a:p>
        </p:txBody>
      </p:sp>
      <p:sp>
        <p:nvSpPr>
          <p:cNvPr id="6" name="Text 4"/>
          <p:cNvSpPr/>
          <p:nvPr/>
        </p:nvSpPr>
        <p:spPr>
          <a:xfrm>
            <a:off x="457200" y="3520440"/>
            <a:ext cx="11274552" cy="1371600"/>
          </a:xfrm>
          <a:prstGeom prst="rect">
            <a:avLst/>
          </a:prstGeom>
          <a:noFill/>
          <a:ln/>
        </p:spPr>
        <p:txBody>
          <a:bodyPr wrap="square" rtlCol="0" anchor="t"/>
          <a:lstStyle/>
          <a:p>
            <a:pPr marL="342900" indent="-342900">
              <a:spcAft>
                <a:spcPts val="1000"/>
              </a:spcAft>
              <a:buSzPct val="100000"/>
              <a:buChar char="•"/>
            </a:pPr>
            <a:r>
              <a:rPr lang="en-US" sz="1250" dirty="0">
                <a:solidFill>
                  <a:srgbClr val="333333"/>
                </a:solidFill>
                <a:latin typeface="Calibri" pitchFamily="34" charset="0"/>
                <a:ea typeface="Calibri" pitchFamily="34" charset="-122"/>
                <a:cs typeface="Calibri" pitchFamily="34" charset="-120"/>
              </a:rPr>
              <a:t>Operator tests Ra once every </a:t>
            </a:r>
            <a:r>
              <a:rPr lang="en-US" sz="1250" dirty="0">
                <a:solidFill>
                  <a:srgbClr val="FF0000"/>
                </a:solidFill>
                <a:latin typeface="Calibri" pitchFamily="34" charset="0"/>
                <a:ea typeface="Calibri" pitchFamily="34" charset="-122"/>
                <a:cs typeface="Calibri" pitchFamily="34" charset="-120"/>
              </a:rPr>
              <a:t>20 parts</a:t>
            </a:r>
            <a:r>
              <a:rPr lang="en-US" sz="1250" dirty="0">
                <a:solidFill>
                  <a:srgbClr val="333333"/>
                </a:solidFill>
                <a:latin typeface="Calibri" pitchFamily="34" charset="0"/>
                <a:ea typeface="Calibri" pitchFamily="34" charset="-122"/>
                <a:cs typeface="Calibri" pitchFamily="34" charset="-120"/>
              </a:rPr>
              <a:t> (at belt change) at each grit stage (80/120/180) to monitor belt health.</a:t>
            </a:r>
            <a:endParaRPr lang="en-US" sz="1250" dirty="0"/>
          </a:p>
          <a:p>
            <a:pPr marL="342900" indent="-342900">
              <a:spcAft>
                <a:spcPts val="1000"/>
              </a:spcAft>
              <a:buSzPct val="100000"/>
              <a:buChar char="•"/>
            </a:pPr>
            <a:r>
              <a:rPr lang="en-US" sz="1250" dirty="0">
                <a:solidFill>
                  <a:srgbClr val="333333"/>
                </a:solidFill>
                <a:latin typeface="Calibri" pitchFamily="34" charset="0"/>
                <a:ea typeface="Calibri" pitchFamily="34" charset="-122"/>
                <a:cs typeface="Calibri" pitchFamily="34" charset="-120"/>
              </a:rPr>
              <a:t>Quality takes a sample Ra reading from a random part after 180 grit. Must be &lt;= </a:t>
            </a:r>
            <a:r>
              <a:rPr lang="en-US" sz="1250" dirty="0">
                <a:solidFill>
                  <a:srgbClr val="FF0000"/>
                </a:solidFill>
                <a:latin typeface="Calibri" pitchFamily="34" charset="0"/>
                <a:ea typeface="Calibri" pitchFamily="34" charset="-122"/>
                <a:cs typeface="Calibri" pitchFamily="34" charset="-120"/>
              </a:rPr>
              <a:t>70</a:t>
            </a:r>
            <a:r>
              <a:rPr lang="en-US" sz="1250" dirty="0">
                <a:solidFill>
                  <a:srgbClr val="333333"/>
                </a:solidFill>
                <a:latin typeface="Calibri" pitchFamily="34" charset="0"/>
                <a:ea typeface="Calibri" pitchFamily="34" charset="-122"/>
                <a:cs typeface="Calibri" pitchFamily="34" charset="-120"/>
              </a:rPr>
              <a:t> Ra.</a:t>
            </a:r>
            <a:endParaRPr lang="en-US" sz="1250" dirty="0"/>
          </a:p>
        </p:txBody>
      </p:sp>
      <p:sp>
        <p:nvSpPr>
          <p:cNvPr id="7" name="Text 5"/>
          <p:cNvSpPr/>
          <p:nvPr/>
        </p:nvSpPr>
        <p:spPr>
          <a:xfrm>
            <a:off x="457200" y="4389120"/>
            <a:ext cx="5486400" cy="292608"/>
          </a:xfrm>
          <a:prstGeom prst="rect">
            <a:avLst/>
          </a:prstGeom>
          <a:noFill/>
          <a:ln/>
        </p:spPr>
        <p:txBody>
          <a:bodyPr wrap="square" rtlCol="0" anchor="ctr"/>
          <a:lstStyle/>
          <a:p>
            <a:pPr marL="0" indent="0">
              <a:buNone/>
            </a:pPr>
            <a:r>
              <a:rPr lang="en-US" sz="1350" b="1" dirty="0">
                <a:solidFill>
                  <a:srgbClr val="000000"/>
                </a:solidFill>
                <a:latin typeface="Calibri" pitchFamily="34" charset="0"/>
                <a:ea typeface="Calibri" pitchFamily="34" charset="-122"/>
                <a:cs typeface="Calibri" pitchFamily="34" charset="-120"/>
              </a:rPr>
              <a:t>Inspection Frequency</a:t>
            </a:r>
            <a:endParaRPr lang="en-US" sz="1350" dirty="0"/>
          </a:p>
        </p:txBody>
      </p:sp>
      <p:sp>
        <p:nvSpPr>
          <p:cNvPr id="8" name="Text 6"/>
          <p:cNvSpPr/>
          <p:nvPr/>
        </p:nvSpPr>
        <p:spPr>
          <a:xfrm>
            <a:off x="457200" y="4736592"/>
            <a:ext cx="11274552" cy="54864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Operator: Ra check once every </a:t>
            </a:r>
            <a:r>
              <a:rPr lang="en-US" sz="1200" dirty="0">
                <a:solidFill>
                  <a:srgbClr val="FF0000"/>
                </a:solidFill>
                <a:latin typeface="Calibri" pitchFamily="34" charset="0"/>
                <a:ea typeface="Calibri" pitchFamily="34" charset="-122"/>
                <a:cs typeface="Calibri" pitchFamily="34" charset="-120"/>
              </a:rPr>
              <a:t>20 parts</a:t>
            </a:r>
            <a:r>
              <a:rPr lang="en-US" sz="1200" dirty="0">
                <a:solidFill>
                  <a:srgbClr val="333333"/>
                </a:solidFill>
                <a:latin typeface="Calibri" pitchFamily="34" charset="0"/>
                <a:ea typeface="Calibri" pitchFamily="34" charset="-122"/>
                <a:cs typeface="Calibri" pitchFamily="34" charset="-120"/>
              </a:rPr>
              <a:t> (at belt change) at each grit stage. Quality: sample check once every 100 parts.</a:t>
            </a:r>
            <a:endParaRPr lang="en-US" sz="1200" dirty="0"/>
          </a:p>
        </p:txBody>
      </p:sp>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685800"/>
            <a:ext cx="11274552" cy="457200"/>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Revision History and Approval</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4228393584"/>
              </p:ext>
            </p:extLst>
          </p:nvPr>
        </p:nvGraphicFramePr>
        <p:xfrm>
          <a:off x="457200" y="2185416"/>
          <a:ext cx="11274552" cy="822960"/>
        </p:xfrm>
        <a:graphic>
          <a:graphicData uri="http://schemas.openxmlformats.org/drawingml/2006/table">
            <a:tbl>
              <a:tblPr/>
              <a:tblGrid>
                <a:gridCol w="10972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6336792">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11480">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Rev</a:t>
                      </a:r>
                      <a:endParaRPr lang="en-US" sz="11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Date</a:t>
                      </a:r>
                      <a:endParaRPr lang="en-US" sz="11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Description of Change</a:t>
                      </a:r>
                      <a:endParaRPr lang="en-US" sz="11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Author</a:t>
                      </a:r>
                      <a:endParaRPr lang="en-US" sz="115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411480">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7/23/2026</a:t>
                      </a: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Initial release</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Ali Mohamadi</a:t>
                      </a:r>
                      <a:endParaRPr lang="en-US" sz="1100" dirty="0">
                        <a:latin typeface="Calibri" charset="0"/>
                        <a:ea typeface="Calibri" charset="0"/>
                        <a:cs typeface="Calibri" charset="0"/>
                      </a:endParaRPr>
                    </a:p>
                  </a:txBody>
                  <a:tcP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Text 1"/>
          <p:cNvSpPr/>
          <p:nvPr/>
        </p:nvSpPr>
        <p:spPr>
          <a:xfrm>
            <a:off x="457200" y="3374136"/>
            <a:ext cx="4572000" cy="292608"/>
          </a:xfrm>
          <a:prstGeom prst="rect">
            <a:avLst/>
          </a:prstGeom>
          <a:noFill/>
          <a:ln/>
        </p:spPr>
        <p:txBody>
          <a:bodyPr wrap="square" rtlCol="0" anchor="ctr"/>
          <a:lstStyle/>
          <a:p>
            <a:pPr marL="0" indent="0">
              <a:buNone/>
            </a:pPr>
            <a:r>
              <a:rPr lang="en-US" sz="1350" b="1" dirty="0">
                <a:solidFill>
                  <a:srgbClr val="000000"/>
                </a:solidFill>
                <a:latin typeface="Calibri" pitchFamily="34" charset="0"/>
                <a:ea typeface="Calibri" pitchFamily="34" charset="-122"/>
                <a:cs typeface="Calibri" pitchFamily="34" charset="-120"/>
              </a:rPr>
              <a:t>Approvals</a:t>
            </a:r>
            <a:endParaRPr lang="en-US" sz="1350" dirty="0"/>
          </a:p>
        </p:txBody>
      </p:sp>
      <p:sp>
        <p:nvSpPr>
          <p:cNvPr id="5" name="Text 2"/>
          <p:cNvSpPr/>
          <p:nvPr/>
        </p:nvSpPr>
        <p:spPr>
          <a:xfrm>
            <a:off x="457200" y="3739896"/>
            <a:ext cx="3474720" cy="27432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Tool and Product Engineering</a:t>
            </a:r>
            <a:endParaRPr lang="en-US" sz="1200" dirty="0"/>
          </a:p>
        </p:txBody>
      </p:sp>
      <p:sp>
        <p:nvSpPr>
          <p:cNvPr id="6" name="Shape 3"/>
          <p:cNvSpPr/>
          <p:nvPr/>
        </p:nvSpPr>
        <p:spPr>
          <a:xfrm>
            <a:off x="4023360" y="3959352"/>
            <a:ext cx="3657600" cy="0"/>
          </a:xfrm>
          <a:prstGeom prst="line">
            <a:avLst/>
          </a:prstGeom>
          <a:noFill/>
          <a:ln w="12700">
            <a:solidFill>
              <a:srgbClr val="AAAAAA"/>
            </a:solidFill>
            <a:prstDash val="solid"/>
          </a:ln>
        </p:spPr>
        <p:txBody>
          <a:bodyPr/>
          <a:lstStyle/>
          <a:p>
            <a:endParaRPr lang="en-US"/>
          </a:p>
        </p:txBody>
      </p:sp>
      <p:sp>
        <p:nvSpPr>
          <p:cNvPr id="7" name="Text 4"/>
          <p:cNvSpPr/>
          <p:nvPr/>
        </p:nvSpPr>
        <p:spPr>
          <a:xfrm>
            <a:off x="4023360" y="3977640"/>
            <a:ext cx="3657600" cy="228600"/>
          </a:xfrm>
          <a:prstGeom prst="rect">
            <a:avLst/>
          </a:prstGeom>
          <a:noFill/>
          <a:ln/>
        </p:spPr>
        <p:txBody>
          <a:bodyPr wrap="square" rtlCol="0" anchor="ctr"/>
          <a:lstStyle/>
          <a:p>
            <a:pPr marL="0" indent="0">
              <a:buNone/>
            </a:pPr>
            <a:r>
              <a:rPr lang="en-US" sz="850" i="1" dirty="0">
                <a:solidFill>
                  <a:srgbClr val="666666"/>
                </a:solidFill>
                <a:latin typeface="Calibri" pitchFamily="34" charset="0"/>
                <a:ea typeface="Calibri" pitchFamily="34" charset="-122"/>
                <a:cs typeface="Calibri" pitchFamily="34" charset="-120"/>
              </a:rPr>
              <a:t>Signature / Date</a:t>
            </a:r>
            <a:endParaRPr lang="en-US" sz="850" dirty="0"/>
          </a:p>
        </p:txBody>
      </p:sp>
      <p:sp>
        <p:nvSpPr>
          <p:cNvPr id="8" name="Text 5"/>
          <p:cNvSpPr/>
          <p:nvPr/>
        </p:nvSpPr>
        <p:spPr>
          <a:xfrm>
            <a:off x="457200" y="4242816"/>
            <a:ext cx="3474720" cy="27432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Manufacturing Engineering</a:t>
            </a:r>
            <a:endParaRPr lang="en-US" sz="1200" dirty="0"/>
          </a:p>
        </p:txBody>
      </p:sp>
      <p:sp>
        <p:nvSpPr>
          <p:cNvPr id="9" name="Shape 6"/>
          <p:cNvSpPr/>
          <p:nvPr/>
        </p:nvSpPr>
        <p:spPr>
          <a:xfrm>
            <a:off x="4023360" y="4462272"/>
            <a:ext cx="3657600" cy="0"/>
          </a:xfrm>
          <a:prstGeom prst="line">
            <a:avLst/>
          </a:prstGeom>
          <a:noFill/>
          <a:ln w="12700">
            <a:solidFill>
              <a:srgbClr val="AAAAAA"/>
            </a:solidFill>
            <a:prstDash val="solid"/>
          </a:ln>
        </p:spPr>
        <p:txBody>
          <a:bodyPr/>
          <a:lstStyle/>
          <a:p>
            <a:endParaRPr lang="en-US"/>
          </a:p>
        </p:txBody>
      </p:sp>
      <p:sp>
        <p:nvSpPr>
          <p:cNvPr id="10" name="Text 7"/>
          <p:cNvSpPr/>
          <p:nvPr/>
        </p:nvSpPr>
        <p:spPr>
          <a:xfrm>
            <a:off x="4023360" y="4480560"/>
            <a:ext cx="3657600" cy="228600"/>
          </a:xfrm>
          <a:prstGeom prst="rect">
            <a:avLst/>
          </a:prstGeom>
          <a:noFill/>
          <a:ln/>
        </p:spPr>
        <p:txBody>
          <a:bodyPr wrap="square" rtlCol="0" anchor="ctr"/>
          <a:lstStyle/>
          <a:p>
            <a:pPr marL="0" indent="0">
              <a:buNone/>
            </a:pPr>
            <a:r>
              <a:rPr lang="en-US" sz="850" i="1" dirty="0">
                <a:solidFill>
                  <a:srgbClr val="666666"/>
                </a:solidFill>
                <a:latin typeface="Calibri" pitchFamily="34" charset="0"/>
                <a:ea typeface="Calibri" pitchFamily="34" charset="-122"/>
                <a:cs typeface="Calibri" pitchFamily="34" charset="-120"/>
              </a:rPr>
              <a:t>Signature / Date</a:t>
            </a:r>
            <a:endParaRPr lang="en-US" sz="850" dirty="0"/>
          </a:p>
        </p:txBody>
      </p:sp>
      <p:sp>
        <p:nvSpPr>
          <p:cNvPr id="25" name="Slide Number Placeholder 0"/>
          <p:cNvSpPr>
            <a:spLocks noGrp="1"/>
          </p:cNvSpPr>
          <p:nvPr>
            <p:ph type="sldNum" sz="quarter" idx="4294967295"/>
          </p:nvPr>
        </p:nvSpPr>
        <p:spPr>
          <a:xfrm>
            <a:off x="10469880" y="6355080"/>
            <a:ext cx="1261872" cy="429768"/>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000000"/>
                </a:solidFill>
                <a:latin typeface="Calibri"/>
                <a:ea typeface="Calibri"/>
                <a:cs typeface="Calibri"/>
              </a:defRPr>
            </a:lvl1pPr>
          </a:lstStyle>
          <a:p>
            <a:pPr algn="ct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Rectangle 2"/>
          <p:cNvSpPr/>
          <p:nvPr/>
        </p:nvSpPr>
        <p:spPr>
          <a:xfrm>
            <a:off x="0" y="0"/>
            <a:ext cx="9144000" cy="5029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square">
            <a:spAutoFit/>
          </a:bodyPr>
          <a:lstStyle/>
          <a:p>
            <a:pPr>
              <a:defRPr sz="3200" b="1">
                <a:solidFill>
                  <a:srgbClr val="FFFFFF"/>
                </a:solidFill>
              </a:defRPr>
            </a:pPr>
            <a:r>
              <a:t>PFMEA Summary: High-Risk Items</a:t>
            </a:r>
          </a:p>
        </p:txBody>
      </p:sp>
      <p:sp>
        <p:nvSpPr>
          <p:cNvPr id="4" name="Rectangle 3"/>
          <p:cNvSpPr/>
          <p:nvPr/>
        </p:nvSpPr>
        <p:spPr>
          <a:xfrm>
            <a:off x="0" y="6492240"/>
            <a:ext cx="9144000" cy="411480"/>
          </a:xfrm>
          <a:prstGeom prst="rect">
            <a:avLst/>
          </a:prstGeom>
          <a:solidFill>
            <a:srgbClr val="244E78"/>
          </a:solidFill>
          <a:ln>
            <a:solidFill>
              <a:srgbClr val="24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685800"/>
          <a:ext cx="8595360" cy="5303520"/>
        </p:xfrm>
        <a:graphic>
          <a:graphicData uri="http://schemas.openxmlformats.org/drawingml/2006/table">
            <a:tbl>
              <a:tblPr firstRow="1" bandRow="1">
                <a:tableStyleId>{5C22544A-7EE6-4342-B048-85BDC9FD1C3A}</a:tableStyleId>
              </a:tblPr>
              <a:tblGrid>
                <a:gridCol w="1188720"/>
                <a:gridCol w="2560320"/>
                <a:gridCol w="1645920"/>
                <a:gridCol w="731520"/>
                <a:gridCol w="2468880"/>
              </a:tblGrid>
              <a:tr h="883920">
                <a:tc>
                  <a:txBody>
                    <a:bodyPr/>
                    <a:lstStyle/>
                    <a:p>
                      <a:pPr>
                        <a:defRPr sz="900" b="1">
                          <a:solidFill>
                            <a:srgbClr val="FFFFFF"/>
                          </a:solidFill>
                        </a:defRPr>
                      </a:pPr>
                      <a:r>
                        <a:t>Process Step</a:t>
                      </a:r>
                    </a:p>
                  </a:txBody>
                  <a:tcPr>
                    <a:solidFill>
                      <a:srgbClr val="244E78"/>
                    </a:solidFill>
                  </a:tcPr>
                </a:tc>
                <a:tc>
                  <a:txBody>
                    <a:bodyPr/>
                    <a:lstStyle/>
                    <a:p>
                      <a:pPr>
                        <a:defRPr sz="900" b="1">
                          <a:solidFill>
                            <a:srgbClr val="FFFFFF"/>
                          </a:solidFill>
                        </a:defRPr>
                      </a:pPr>
                      <a:r>
                        <a:t>Failure Mode</a:t>
                      </a:r>
                    </a:p>
                  </a:txBody>
                  <a:tcPr>
                    <a:solidFill>
                      <a:srgbClr val="244E78"/>
                    </a:solidFill>
                  </a:tcPr>
                </a:tc>
                <a:tc>
                  <a:txBody>
                    <a:bodyPr/>
                    <a:lstStyle/>
                    <a:p>
                      <a:pPr>
                        <a:defRPr sz="900" b="1">
                          <a:solidFill>
                            <a:srgbClr val="FFFFFF"/>
                          </a:solidFill>
                        </a:defRPr>
                      </a:pPr>
                      <a:r>
                        <a:t>Effect</a:t>
                      </a:r>
                    </a:p>
                  </a:txBody>
                  <a:tcPr>
                    <a:solidFill>
                      <a:srgbClr val="244E78"/>
                    </a:solidFill>
                  </a:tcPr>
                </a:tc>
                <a:tc>
                  <a:txBody>
                    <a:bodyPr/>
                    <a:lstStyle/>
                    <a:p>
                      <a:pPr>
                        <a:defRPr sz="900" b="1">
                          <a:solidFill>
                            <a:srgbClr val="FFFFFF"/>
                          </a:solidFill>
                        </a:defRPr>
                      </a:pPr>
                      <a:r>
                        <a:t>RPN</a:t>
                      </a:r>
                    </a:p>
                  </a:txBody>
                  <a:tcPr>
                    <a:solidFill>
                      <a:srgbClr val="244E78"/>
                    </a:solidFill>
                  </a:tcPr>
                </a:tc>
                <a:tc>
                  <a:txBody>
                    <a:bodyPr/>
                    <a:lstStyle/>
                    <a:p>
                      <a:pPr>
                        <a:defRPr sz="900" b="1">
                          <a:solidFill>
                            <a:srgbClr val="FFFFFF"/>
                          </a:solidFill>
                        </a:defRPr>
                      </a:pPr>
                      <a:r>
                        <a:t>Key Control</a:t>
                      </a:r>
                    </a:p>
                  </a:txBody>
                  <a:tcPr>
                    <a:solidFill>
                      <a:srgbClr val="244E78"/>
                    </a:solidFill>
                  </a:tcPr>
                </a:tc>
              </a:tr>
              <a:tr h="883920">
                <a:tc>
                  <a:txBody>
                    <a:bodyPr/>
                    <a:lstStyle/>
                    <a:p>
                      <a:pPr>
                        <a:defRPr sz="900">
                          <a:solidFill>
                            <a:srgbClr val="000000"/>
                          </a:solidFill>
                        </a:defRPr>
                      </a:pPr>
                      <a:r>
                        <a:t>80 Grit</a:t>
                      </a:r>
                    </a:p>
                  </a:txBody>
                  <a:tcPr/>
                </a:tc>
                <a:tc>
                  <a:txBody>
                    <a:bodyPr/>
                    <a:lstStyle/>
                    <a:p>
                      <a:pPr>
                        <a:defRPr sz="900">
                          <a:solidFill>
                            <a:srgbClr val="000000"/>
                          </a:solidFill>
                        </a:defRPr>
                      </a:pPr>
                      <a:r>
                        <a:t>Not enough material removed</a:t>
                      </a:r>
                    </a:p>
                  </a:txBody>
                  <a:tcPr/>
                </a:tc>
                <a:tc>
                  <a:txBody>
                    <a:bodyPr/>
                    <a:lstStyle/>
                    <a:p>
                      <a:pPr>
                        <a:defRPr sz="900">
                          <a:solidFill>
                            <a:srgbClr val="000000"/>
                          </a:solidFill>
                        </a:defRPr>
                      </a:pPr>
                      <a:r>
                        <a:t>Frosting</a:t>
                      </a:r>
                    </a:p>
                  </a:txBody>
                  <a:tcPr/>
                </a:tc>
                <a:tc>
                  <a:txBody>
                    <a:bodyPr/>
                    <a:lstStyle/>
                    <a:p>
                      <a:pPr>
                        <a:defRPr sz="900">
                          <a:solidFill>
                            <a:srgbClr val="000000"/>
                          </a:solidFill>
                        </a:defRPr>
                      </a:pPr>
                      <a:r>
                        <a:t>224</a:t>
                      </a:r>
                    </a:p>
                  </a:txBody>
                  <a:tcPr/>
                </a:tc>
                <a:tc>
                  <a:txBody>
                    <a:bodyPr/>
                    <a:lstStyle/>
                    <a:p>
                      <a:pPr>
                        <a:defRPr sz="900">
                          <a:solidFill>
                            <a:srgbClr val="000000"/>
                          </a:solidFill>
                        </a:defRPr>
                      </a:pPr>
                      <a:r>
                        <a:t>Marker check: all marks gone after 80 grit</a:t>
                      </a:r>
                    </a:p>
                  </a:txBody>
                  <a:tcPr/>
                </a:tc>
              </a:tr>
              <a:tr h="883920">
                <a:tc>
                  <a:txBody>
                    <a:bodyPr/>
                    <a:lstStyle/>
                    <a:p>
                      <a:pPr>
                        <a:defRPr sz="900">
                          <a:solidFill>
                            <a:srgbClr val="000000"/>
                          </a:solidFill>
                        </a:defRPr>
                      </a:pPr>
                      <a:r>
                        <a:t>80 Grit</a:t>
                      </a:r>
                    </a:p>
                  </a:txBody>
                  <a:tcPr>
                    <a:solidFill>
                      <a:srgbClr val="F5F5F5"/>
                    </a:solidFill>
                  </a:tcPr>
                </a:tc>
                <a:tc>
                  <a:txBody>
                    <a:bodyPr/>
                    <a:lstStyle/>
                    <a:p>
                      <a:pPr>
                        <a:defRPr sz="900">
                          <a:solidFill>
                            <a:srgbClr val="000000"/>
                          </a:solidFill>
                        </a:defRPr>
                      </a:pPr>
                      <a:r>
                        <a:t>Missed spots near flange</a:t>
                      </a:r>
                    </a:p>
                  </a:txBody>
                  <a:tcPr>
                    <a:solidFill>
                      <a:srgbClr val="F5F5F5"/>
                    </a:solidFill>
                  </a:tcPr>
                </a:tc>
                <a:tc>
                  <a:txBody>
                    <a:bodyPr/>
                    <a:lstStyle/>
                    <a:p>
                      <a:pPr>
                        <a:defRPr sz="900">
                          <a:solidFill>
                            <a:srgbClr val="000000"/>
                          </a:solidFill>
                        </a:defRPr>
                      </a:pPr>
                      <a:r>
                        <a:t>Frosting</a:t>
                      </a:r>
                    </a:p>
                  </a:txBody>
                  <a:tcPr>
                    <a:solidFill>
                      <a:srgbClr val="F5F5F5"/>
                    </a:solidFill>
                  </a:tcPr>
                </a:tc>
                <a:tc>
                  <a:txBody>
                    <a:bodyPr/>
                    <a:lstStyle/>
                    <a:p>
                      <a:pPr>
                        <a:defRPr sz="900">
                          <a:solidFill>
                            <a:srgbClr val="000000"/>
                          </a:solidFill>
                        </a:defRPr>
                      </a:pPr>
                      <a:r>
                        <a:t>224</a:t>
                      </a:r>
                    </a:p>
                  </a:txBody>
                  <a:tcPr>
                    <a:solidFill>
                      <a:srgbClr val="F5F5F5"/>
                    </a:solidFill>
                  </a:tcPr>
                </a:tc>
                <a:tc>
                  <a:txBody>
                    <a:bodyPr/>
                    <a:lstStyle/>
                    <a:p>
                      <a:pPr>
                        <a:defRPr sz="900">
                          <a:solidFill>
                            <a:srgbClr val="000000"/>
                          </a:solidFill>
                        </a:defRPr>
                      </a:pPr>
                      <a:r>
                        <a:t>Visual check sides. Pay attention at edges.</a:t>
                      </a:r>
                    </a:p>
                  </a:txBody>
                  <a:tcPr>
                    <a:solidFill>
                      <a:srgbClr val="F5F5F5"/>
                    </a:solidFill>
                  </a:tcPr>
                </a:tc>
              </a:tr>
              <a:tr h="883920">
                <a:tc>
                  <a:txBody>
                    <a:bodyPr/>
                    <a:lstStyle/>
                    <a:p>
                      <a:pPr>
                        <a:defRPr sz="900">
                          <a:solidFill>
                            <a:srgbClr val="000000"/>
                          </a:solidFill>
                        </a:defRPr>
                      </a:pPr>
                      <a:r>
                        <a:t>120 Grit</a:t>
                      </a:r>
                    </a:p>
                  </a:txBody>
                  <a:tcPr/>
                </a:tc>
                <a:tc>
                  <a:txBody>
                    <a:bodyPr/>
                    <a:lstStyle/>
                    <a:p>
                      <a:pPr>
                        <a:defRPr sz="900">
                          <a:solidFill>
                            <a:srgbClr val="000000"/>
                          </a:solidFill>
                        </a:defRPr>
                      </a:pPr>
                      <a:r>
                        <a:t>Flat spot/divot on dome apex</a:t>
                      </a:r>
                    </a:p>
                  </a:txBody>
                  <a:tcPr/>
                </a:tc>
                <a:tc>
                  <a:txBody>
                    <a:bodyPr/>
                    <a:lstStyle/>
                    <a:p>
                      <a:pPr>
                        <a:defRPr sz="900">
                          <a:solidFill>
                            <a:srgbClr val="000000"/>
                          </a:solidFill>
                        </a:defRPr>
                      </a:pPr>
                      <a:r>
                        <a:t>Geometry defect</a:t>
                      </a:r>
                    </a:p>
                  </a:txBody>
                  <a:tcPr/>
                </a:tc>
                <a:tc>
                  <a:txBody>
                    <a:bodyPr/>
                    <a:lstStyle/>
                    <a:p>
                      <a:pPr>
                        <a:defRPr sz="900">
                          <a:solidFill>
                            <a:srgbClr val="000000"/>
                          </a:solidFill>
                        </a:defRPr>
                      </a:pPr>
                      <a:r>
                        <a:t>140</a:t>
                      </a:r>
                    </a:p>
                  </a:txBody>
                  <a:tcPr/>
                </a:tc>
                <a:tc>
                  <a:txBody>
                    <a:bodyPr/>
                    <a:lstStyle/>
                    <a:p>
                      <a:pPr>
                        <a:defRPr sz="900">
                          <a:solidFill>
                            <a:srgbClr val="000000"/>
                          </a:solidFill>
                        </a:defRPr>
                      </a:pPr>
                      <a:r>
                        <a:t>Dome gage every part at 120 grit</a:t>
                      </a:r>
                    </a:p>
                  </a:txBody>
                  <a:tcPr/>
                </a:tc>
              </a:tr>
              <a:tr h="883920">
                <a:tc>
                  <a:txBody>
                    <a:bodyPr/>
                    <a:lstStyle/>
                    <a:p>
                      <a:pPr>
                        <a:defRPr sz="900">
                          <a:solidFill>
                            <a:srgbClr val="000000"/>
                          </a:solidFill>
                        </a:defRPr>
                      </a:pPr>
                      <a:r>
                        <a:t>80 Grit</a:t>
                      </a:r>
                    </a:p>
                  </a:txBody>
                  <a:tcPr>
                    <a:solidFill>
                      <a:srgbClr val="F5F5F5"/>
                    </a:solidFill>
                  </a:tcPr>
                </a:tc>
                <a:tc>
                  <a:txBody>
                    <a:bodyPr/>
                    <a:lstStyle/>
                    <a:p>
                      <a:pPr>
                        <a:defRPr sz="900">
                          <a:solidFill>
                            <a:srgbClr val="000000"/>
                          </a:solidFill>
                        </a:defRPr>
                      </a:pPr>
                      <a:r>
                        <a:t>Gouging (too much material removed)</a:t>
                      </a:r>
                    </a:p>
                  </a:txBody>
                  <a:tcPr>
                    <a:solidFill>
                      <a:srgbClr val="F5F5F5"/>
                    </a:solidFill>
                  </a:tcPr>
                </a:tc>
                <a:tc>
                  <a:txBody>
                    <a:bodyPr/>
                    <a:lstStyle/>
                    <a:p>
                      <a:pPr>
                        <a:defRPr sz="900">
                          <a:solidFill>
                            <a:srgbClr val="000000"/>
                          </a:solidFill>
                        </a:defRPr>
                      </a:pPr>
                      <a:r>
                        <a:t>Aesthetic defect</a:t>
                      </a:r>
                    </a:p>
                  </a:txBody>
                  <a:tcPr>
                    <a:solidFill>
                      <a:srgbClr val="F5F5F5"/>
                    </a:solidFill>
                  </a:tcPr>
                </a:tc>
                <a:tc>
                  <a:txBody>
                    <a:bodyPr/>
                    <a:lstStyle/>
                    <a:p>
                      <a:pPr>
                        <a:defRPr sz="900">
                          <a:solidFill>
                            <a:srgbClr val="000000"/>
                          </a:solidFill>
                        </a:defRPr>
                      </a:pPr>
                      <a:r>
                        <a:t>128</a:t>
                      </a:r>
                    </a:p>
                  </a:txBody>
                  <a:tcPr>
                    <a:solidFill>
                      <a:srgbClr val="F5F5F5"/>
                    </a:solidFill>
                  </a:tcPr>
                </a:tc>
                <a:tc>
                  <a:txBody>
                    <a:bodyPr/>
                    <a:lstStyle/>
                    <a:p>
                      <a:pPr>
                        <a:defRPr sz="900">
                          <a:solidFill>
                            <a:srgbClr val="000000"/>
                          </a:solidFill>
                        </a:defRPr>
                      </a:pPr>
                      <a:r>
                        <a:t>No dwell, light pressure. Mark first part of batch.</a:t>
                      </a:r>
                    </a:p>
                  </a:txBody>
                  <a:tcPr>
                    <a:solidFill>
                      <a:srgbClr val="F5F5F5"/>
                    </a:solidFill>
                  </a:tcPr>
                </a:tc>
              </a:tr>
              <a:tr h="883920">
                <a:tc>
                  <a:txBody>
                    <a:bodyPr/>
                    <a:lstStyle/>
                    <a:p>
                      <a:pPr>
                        <a:defRPr sz="900">
                          <a:solidFill>
                            <a:srgbClr val="000000"/>
                          </a:solidFill>
                        </a:defRPr>
                      </a:pPr>
                      <a:r>
                        <a:t>180 Grit</a:t>
                      </a:r>
                    </a:p>
                  </a:txBody>
                  <a:tcPr/>
                </a:tc>
                <a:tc>
                  <a:txBody>
                    <a:bodyPr/>
                    <a:lstStyle/>
                    <a:p>
                      <a:pPr>
                        <a:defRPr sz="900">
                          <a:solidFill>
                            <a:srgbClr val="000000"/>
                          </a:solidFill>
                        </a:defRPr>
                      </a:pPr>
                      <a:r>
                        <a:t>Cross-hatching on apex</a:t>
                      </a:r>
                    </a:p>
                  </a:txBody>
                  <a:tcPr/>
                </a:tc>
                <a:tc>
                  <a:txBody>
                    <a:bodyPr/>
                    <a:lstStyle/>
                    <a:p>
                      <a:pPr>
                        <a:defRPr sz="900">
                          <a:solidFill>
                            <a:srgbClr val="000000"/>
                          </a:solidFill>
                        </a:defRPr>
                      </a:pPr>
                      <a:r>
                        <a:t>Aesthetic/visual defect</a:t>
                      </a:r>
                    </a:p>
                  </a:txBody>
                  <a:tcPr/>
                </a:tc>
                <a:tc>
                  <a:txBody>
                    <a:bodyPr/>
                    <a:lstStyle/>
                    <a:p>
                      <a:pPr>
                        <a:defRPr sz="900">
                          <a:solidFill>
                            <a:srgbClr val="000000"/>
                          </a:solidFill>
                        </a:defRPr>
                      </a:pPr>
                      <a:r>
                        <a:t>108</a:t>
                      </a:r>
                    </a:p>
                  </a:txBody>
                  <a:tcPr/>
                </a:tc>
                <a:tc>
                  <a:txBody>
                    <a:bodyPr/>
                    <a:lstStyle/>
                    <a:p>
                      <a:pPr>
                        <a:defRPr sz="900">
                          <a:solidFill>
                            <a:srgbClr val="000000"/>
                          </a:solidFill>
                        </a:defRPr>
                      </a:pPr>
                      <a:r>
                        <a:t>Visual check for cross-hatching after 180 grit</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Rectangle 2"/>
          <p:cNvSpPr/>
          <p:nvPr/>
        </p:nvSpPr>
        <p:spPr>
          <a:xfrm>
            <a:off x="0" y="0"/>
            <a:ext cx="9144000" cy="5029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square">
            <a:spAutoFit/>
          </a:bodyPr>
          <a:lstStyle/>
          <a:p>
            <a:pPr>
              <a:defRPr sz="3200" b="1">
                <a:solidFill>
                  <a:srgbClr val="FFFFFF"/>
                </a:solidFill>
              </a:defRPr>
            </a:pPr>
            <a:r>
              <a:t>Control Plan: Characteristics and Methods</a:t>
            </a:r>
          </a:p>
        </p:txBody>
      </p:sp>
      <p:sp>
        <p:nvSpPr>
          <p:cNvPr id="4" name="Rectangle 3"/>
          <p:cNvSpPr/>
          <p:nvPr/>
        </p:nvSpPr>
        <p:spPr>
          <a:xfrm>
            <a:off x="0" y="6492240"/>
            <a:ext cx="9144000" cy="411480"/>
          </a:xfrm>
          <a:prstGeom prst="rect">
            <a:avLst/>
          </a:prstGeom>
          <a:solidFill>
            <a:srgbClr val="244E78"/>
          </a:solidFill>
          <a:ln>
            <a:solidFill>
              <a:srgbClr val="24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685800"/>
          <a:ext cx="8595360" cy="5303520"/>
        </p:xfrm>
        <a:graphic>
          <a:graphicData uri="http://schemas.openxmlformats.org/drawingml/2006/table">
            <a:tbl>
              <a:tblPr firstRow="1" bandRow="1">
                <a:tableStyleId>{5C22544A-7EE6-4342-B048-85BDC9FD1C3A}</a:tableStyleId>
              </a:tblPr>
              <a:tblGrid>
                <a:gridCol w="1828800"/>
                <a:gridCol w="1828800"/>
                <a:gridCol w="2743200"/>
                <a:gridCol w="2194560"/>
              </a:tblGrid>
              <a:tr h="883920">
                <a:tc>
                  <a:txBody>
                    <a:bodyPr/>
                    <a:lstStyle/>
                    <a:p>
                      <a:pPr>
                        <a:defRPr sz="900" b="1">
                          <a:solidFill>
                            <a:srgbClr val="FFFFFF"/>
                          </a:solidFill>
                        </a:defRPr>
                      </a:pPr>
                      <a:r>
                        <a:t>Characteristic</a:t>
                      </a:r>
                    </a:p>
                  </a:txBody>
                  <a:tcPr>
                    <a:solidFill>
                      <a:srgbClr val="244E78"/>
                    </a:solidFill>
                  </a:tcPr>
                </a:tc>
                <a:tc>
                  <a:txBody>
                    <a:bodyPr/>
                    <a:lstStyle/>
                    <a:p>
                      <a:pPr>
                        <a:defRPr sz="900" b="1">
                          <a:solidFill>
                            <a:srgbClr val="FFFFFF"/>
                          </a:solidFill>
                        </a:defRPr>
                      </a:pPr>
                      <a:r>
                        <a:t>Control Method</a:t>
                      </a:r>
                    </a:p>
                  </a:txBody>
                  <a:tcPr>
                    <a:solidFill>
                      <a:srgbClr val="244E78"/>
                    </a:solidFill>
                  </a:tcPr>
                </a:tc>
                <a:tc>
                  <a:txBody>
                    <a:bodyPr/>
                    <a:lstStyle/>
                    <a:p>
                      <a:pPr>
                        <a:defRPr sz="900" b="1">
                          <a:solidFill>
                            <a:srgbClr val="FFFFFF"/>
                          </a:solidFill>
                        </a:defRPr>
                      </a:pPr>
                      <a:r>
                        <a:t>Sampling Plan</a:t>
                      </a:r>
                    </a:p>
                  </a:txBody>
                  <a:tcPr>
                    <a:solidFill>
                      <a:srgbClr val="244E78"/>
                    </a:solidFill>
                  </a:tcPr>
                </a:tc>
                <a:tc>
                  <a:txBody>
                    <a:bodyPr/>
                    <a:lstStyle/>
                    <a:p>
                      <a:pPr>
                        <a:defRPr sz="900" b="1">
                          <a:solidFill>
                            <a:srgbClr val="FFFFFF"/>
                          </a:solidFill>
                        </a:defRPr>
                      </a:pPr>
                      <a:r>
                        <a:t>Measurement Device</a:t>
                      </a:r>
                    </a:p>
                  </a:txBody>
                  <a:tcPr>
                    <a:solidFill>
                      <a:srgbClr val="244E78"/>
                    </a:solidFill>
                  </a:tcPr>
                </a:tc>
              </a:tr>
              <a:tr h="883920">
                <a:tc>
                  <a:txBody>
                    <a:bodyPr/>
                    <a:lstStyle/>
                    <a:p>
                      <a:pPr>
                        <a:defRPr sz="900">
                          <a:solidFill>
                            <a:srgbClr val="000000"/>
                          </a:solidFill>
                        </a:defRPr>
                      </a:pPr>
                      <a:r>
                        <a:t>Surface Roughness (Ra)</a:t>
                      </a:r>
                    </a:p>
                  </a:txBody>
                  <a:tcPr/>
                </a:tc>
                <a:tc>
                  <a:txBody>
                    <a:bodyPr/>
                    <a:lstStyle/>
                    <a:p>
                      <a:pPr>
                        <a:defRPr sz="900">
                          <a:solidFill>
                            <a:srgbClr val="000000"/>
                          </a:solidFill>
                        </a:defRPr>
                      </a:pPr>
                      <a:r>
                        <a:t>Measurement</a:t>
                      </a:r>
                    </a:p>
                  </a:txBody>
                  <a:tcPr/>
                </a:tc>
                <a:tc>
                  <a:txBody>
                    <a:bodyPr/>
                    <a:lstStyle/>
                    <a:p>
                      <a:pPr>
                        <a:defRPr sz="900">
                          <a:solidFill>
                            <a:srgbClr val="000000"/>
                          </a:solidFill>
                        </a:defRPr>
                      </a:pPr>
                      <a:r>
                        <a:t>Every 20 parts at each grit; Random after 180 grit</a:t>
                      </a:r>
                    </a:p>
                  </a:txBody>
                  <a:tcPr/>
                </a:tc>
                <a:tc>
                  <a:txBody>
                    <a:bodyPr/>
                    <a:lstStyle/>
                    <a:p>
                      <a:pPr>
                        <a:defRPr sz="900">
                          <a:solidFill>
                            <a:srgbClr val="000000"/>
                          </a:solidFill>
                        </a:defRPr>
                      </a:pPr>
                      <a:r>
                        <a:t>Profilometer</a:t>
                      </a:r>
                    </a:p>
                  </a:txBody>
                  <a:tcPr/>
                </a:tc>
              </a:tr>
              <a:tr h="883920">
                <a:tc>
                  <a:txBody>
                    <a:bodyPr/>
                    <a:lstStyle/>
                    <a:p>
                      <a:pPr>
                        <a:defRPr sz="900">
                          <a:solidFill>
                            <a:srgbClr val="000000"/>
                          </a:solidFill>
                        </a:defRPr>
                      </a:pPr>
                      <a:r>
                        <a:t>Dome Finish Quality</a:t>
                      </a:r>
                    </a:p>
                  </a:txBody>
                  <a:tcPr>
                    <a:solidFill>
                      <a:srgbClr val="F5F5F5"/>
                    </a:solidFill>
                  </a:tcPr>
                </a:tc>
                <a:tc>
                  <a:txBody>
                    <a:bodyPr/>
                    <a:lstStyle/>
                    <a:p>
                      <a:pPr>
                        <a:defRPr sz="900">
                          <a:solidFill>
                            <a:srgbClr val="000000"/>
                          </a:solidFill>
                        </a:defRPr>
                      </a:pPr>
                      <a:r>
                        <a:t>Visual + Dome Gage</a:t>
                      </a:r>
                    </a:p>
                  </a:txBody>
                  <a:tcPr>
                    <a:solidFill>
                      <a:srgbClr val="F5F5F5"/>
                    </a:solidFill>
                  </a:tcPr>
                </a:tc>
                <a:tc>
                  <a:txBody>
                    <a:bodyPr/>
                    <a:lstStyle/>
                    <a:p>
                      <a:pPr>
                        <a:defRPr sz="900">
                          <a:solidFill>
                            <a:srgbClr val="000000"/>
                          </a:solidFill>
                        </a:defRPr>
                      </a:pPr>
                      <a:r>
                        <a:t>Every part after 180 grit; Dome gage at 120, 180</a:t>
                      </a:r>
                    </a:p>
                  </a:txBody>
                  <a:tcPr>
                    <a:solidFill>
                      <a:srgbClr val="F5F5F5"/>
                    </a:solidFill>
                  </a:tcPr>
                </a:tc>
                <a:tc>
                  <a:txBody>
                    <a:bodyPr/>
                    <a:lstStyle/>
                    <a:p>
                      <a:pPr>
                        <a:defRPr sz="900">
                          <a:solidFill>
                            <a:srgbClr val="000000"/>
                          </a:solidFill>
                        </a:defRPr>
                      </a:pPr>
                      <a:r>
                        <a:t>Visual + Dome gage</a:t>
                      </a:r>
                    </a:p>
                  </a:txBody>
                  <a:tcPr>
                    <a:solidFill>
                      <a:srgbClr val="F5F5F5"/>
                    </a:solidFill>
                  </a:tcPr>
                </a:tc>
              </a:tr>
              <a:tr h="883920">
                <a:tc>
                  <a:txBody>
                    <a:bodyPr/>
                    <a:lstStyle/>
                    <a:p>
                      <a:pPr>
                        <a:defRPr sz="900">
                          <a:solidFill>
                            <a:srgbClr val="000000"/>
                          </a:solidFill>
                        </a:defRPr>
                      </a:pPr>
                      <a:r>
                        <a:t>Side Condition</a:t>
                      </a:r>
                    </a:p>
                  </a:txBody>
                  <a:tcPr/>
                </a:tc>
                <a:tc>
                  <a:txBody>
                    <a:bodyPr/>
                    <a:lstStyle/>
                    <a:p>
                      <a:pPr>
                        <a:defRPr sz="900">
                          <a:solidFill>
                            <a:srgbClr val="000000"/>
                          </a:solidFill>
                        </a:defRPr>
                      </a:pPr>
                      <a:r>
                        <a:t>Visual inspection</a:t>
                      </a:r>
                    </a:p>
                  </a:txBody>
                  <a:tcPr/>
                </a:tc>
                <a:tc>
                  <a:txBody>
                    <a:bodyPr/>
                    <a:lstStyle/>
                    <a:p>
                      <a:pPr>
                        <a:defRPr sz="900">
                          <a:solidFill>
                            <a:srgbClr val="000000"/>
                          </a:solidFill>
                        </a:defRPr>
                      </a:pPr>
                      <a:r>
                        <a:t>Every part after 180 grit</a:t>
                      </a:r>
                    </a:p>
                  </a:txBody>
                  <a:tcPr/>
                </a:tc>
                <a:tc>
                  <a:txBody>
                    <a:bodyPr/>
                    <a:lstStyle/>
                    <a:p>
                      <a:pPr>
                        <a:defRPr sz="900">
                          <a:solidFill>
                            <a:srgbClr val="000000"/>
                          </a:solidFill>
                        </a:defRPr>
                      </a:pPr>
                      <a:r>
                        <a:t>Visual inspection</a:t>
                      </a:r>
                    </a:p>
                  </a:txBody>
                  <a:tcPr/>
                </a:tc>
              </a:tr>
              <a:tr h="883920">
                <a:tc>
                  <a:txBody>
                    <a:bodyPr/>
                    <a:lstStyle/>
                    <a:p>
                      <a:pPr>
                        <a:defRPr sz="900">
                          <a:solidFill>
                            <a:srgbClr val="000000"/>
                          </a:solidFill>
                        </a:defRPr>
                      </a:pPr>
                      <a:r>
                        <a:t>Belt wear</a:t>
                      </a:r>
                    </a:p>
                  </a:txBody>
                  <a:tcPr>
                    <a:solidFill>
                      <a:srgbClr val="F5F5F5"/>
                    </a:solidFill>
                  </a:tcPr>
                </a:tc>
                <a:tc>
                  <a:txBody>
                    <a:bodyPr/>
                    <a:lstStyle/>
                    <a:p>
                      <a:pPr>
                        <a:defRPr sz="900">
                          <a:solidFill>
                            <a:srgbClr val="000000"/>
                          </a:solidFill>
                        </a:defRPr>
                      </a:pPr>
                      <a:r>
                        <a:t>Operator tracking</a:t>
                      </a:r>
                    </a:p>
                  </a:txBody>
                  <a:tcPr>
                    <a:solidFill>
                      <a:srgbClr val="F5F5F5"/>
                    </a:solidFill>
                  </a:tcPr>
                </a:tc>
                <a:tc>
                  <a:txBody>
                    <a:bodyPr/>
                    <a:lstStyle/>
                    <a:p>
                      <a:pPr>
                        <a:defRPr sz="900">
                          <a:solidFill>
                            <a:srgbClr val="000000"/>
                          </a:solidFill>
                        </a:defRPr>
                      </a:pPr>
                      <a:r>
                        <a:t>Every part; Replace after 20 parts</a:t>
                      </a:r>
                    </a:p>
                  </a:txBody>
                  <a:tcPr>
                    <a:solidFill>
                      <a:srgbClr val="F5F5F5"/>
                    </a:solidFill>
                  </a:tcPr>
                </a:tc>
                <a:tc>
                  <a:txBody>
                    <a:bodyPr/>
                    <a:lstStyle/>
                    <a:p>
                      <a:pPr>
                        <a:defRPr sz="900">
                          <a:solidFill>
                            <a:srgbClr val="000000"/>
                          </a:solidFill>
                        </a:defRPr>
                      </a:pPr>
                      <a:r>
                        <a:t>Counter/log</a:t>
                      </a:r>
                    </a:p>
                  </a:txBody>
                  <a:tcPr>
                    <a:solidFill>
                      <a:srgbClr val="F5F5F5"/>
                    </a:solidFill>
                  </a:tcPr>
                </a:tc>
              </a:tr>
              <a:tr h="883920">
                <a:tc>
                  <a:txBody>
                    <a:bodyPr/>
                    <a:lstStyle/>
                    <a:p>
                      <a:pPr>
                        <a:defRPr sz="900">
                          <a:solidFill>
                            <a:srgbClr val="000000"/>
                          </a:solidFill>
                        </a:defRPr>
                      </a:pPr>
                      <a:r>
                        <a:t>Overall defects</a:t>
                      </a:r>
                    </a:p>
                  </a:txBody>
                  <a:tcPr/>
                </a:tc>
                <a:tc>
                  <a:txBody>
                    <a:bodyPr/>
                    <a:lstStyle/>
                    <a:p>
                      <a:pPr>
                        <a:defRPr sz="900">
                          <a:solidFill>
                            <a:srgbClr val="000000"/>
                          </a:solidFill>
                        </a:defRPr>
                      </a:pPr>
                      <a:r>
                        <a:t>Quality sampling</a:t>
                      </a:r>
                    </a:p>
                  </a:txBody>
                  <a:tcPr/>
                </a:tc>
                <a:tc>
                  <a:txBody>
                    <a:bodyPr/>
                    <a:lstStyle/>
                    <a:p>
                      <a:pPr>
                        <a:defRPr sz="900">
                          <a:solidFill>
                            <a:srgbClr val="000000"/>
                          </a:solidFill>
                        </a:defRPr>
                      </a:pPr>
                      <a:r>
                        <a:t>Every 100 pieces</a:t>
                      </a:r>
                    </a:p>
                  </a:txBody>
                  <a:tcPr/>
                </a:tc>
                <a:tc>
                  <a:txBody>
                    <a:bodyPr/>
                    <a:lstStyle/>
                    <a:p>
                      <a:pPr>
                        <a:defRPr sz="900">
                          <a:solidFill>
                            <a:srgbClr val="000000"/>
                          </a:solidFill>
                        </a:defRPr>
                      </a:pPr>
                      <a:r>
                        <a:t>Visual inspection checklist</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Rectangle 2"/>
          <p:cNvSpPr/>
          <p:nvPr/>
        </p:nvSpPr>
        <p:spPr>
          <a:xfrm>
            <a:off x="0" y="0"/>
            <a:ext cx="9144000" cy="5029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square">
            <a:spAutoFit/>
          </a:bodyPr>
          <a:lstStyle/>
          <a:p>
            <a:pPr>
              <a:defRPr sz="3200" b="1">
                <a:solidFill>
                  <a:srgbClr val="FFFFFF"/>
                </a:solidFill>
              </a:defRPr>
            </a:pPr>
            <a:r>
              <a:t>Control Plan: Reaction Plan</a:t>
            </a:r>
          </a:p>
        </p:txBody>
      </p:sp>
      <p:sp>
        <p:nvSpPr>
          <p:cNvPr id="4" name="Rectangle 3"/>
          <p:cNvSpPr/>
          <p:nvPr/>
        </p:nvSpPr>
        <p:spPr>
          <a:xfrm>
            <a:off x="0" y="6492240"/>
            <a:ext cx="9144000" cy="411480"/>
          </a:xfrm>
          <a:prstGeom prst="rect">
            <a:avLst/>
          </a:prstGeom>
          <a:solidFill>
            <a:srgbClr val="244E78"/>
          </a:solidFill>
          <a:ln>
            <a:solidFill>
              <a:srgbClr val="24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685800"/>
          <a:ext cx="8595360" cy="5303520"/>
        </p:xfrm>
        <a:graphic>
          <a:graphicData uri="http://schemas.openxmlformats.org/drawingml/2006/table">
            <a:tbl>
              <a:tblPr firstRow="1" bandRow="1">
                <a:tableStyleId>{5C22544A-7EE6-4342-B048-85BDC9FD1C3A}</a:tableStyleId>
              </a:tblPr>
              <a:tblGrid>
                <a:gridCol w="1645920"/>
                <a:gridCol w="1645920"/>
                <a:gridCol w="3474720"/>
                <a:gridCol w="1828800"/>
              </a:tblGrid>
              <a:tr h="757645">
                <a:tc>
                  <a:txBody>
                    <a:bodyPr/>
                    <a:lstStyle/>
                    <a:p>
                      <a:pPr>
                        <a:defRPr sz="900" b="1">
                          <a:solidFill>
                            <a:srgbClr val="FFFFFF"/>
                          </a:solidFill>
                        </a:defRPr>
                      </a:pPr>
                      <a:r>
                        <a:t>Issue</a:t>
                      </a:r>
                    </a:p>
                  </a:txBody>
                  <a:tcPr>
                    <a:solidFill>
                      <a:srgbClr val="244E78"/>
                    </a:solidFill>
                  </a:tcPr>
                </a:tc>
                <a:tc>
                  <a:txBody>
                    <a:bodyPr/>
                    <a:lstStyle/>
                    <a:p>
                      <a:pPr>
                        <a:defRPr sz="900" b="1">
                          <a:solidFill>
                            <a:srgbClr val="FFFFFF"/>
                          </a:solidFill>
                        </a:defRPr>
                      </a:pPr>
                      <a:r>
                        <a:t>Trigger</a:t>
                      </a:r>
                    </a:p>
                  </a:txBody>
                  <a:tcPr>
                    <a:solidFill>
                      <a:srgbClr val="244E78"/>
                    </a:solidFill>
                  </a:tcPr>
                </a:tc>
                <a:tc>
                  <a:txBody>
                    <a:bodyPr/>
                    <a:lstStyle/>
                    <a:p>
                      <a:pPr>
                        <a:defRPr sz="900" b="1">
                          <a:solidFill>
                            <a:srgbClr val="FFFFFF"/>
                          </a:solidFill>
                        </a:defRPr>
                      </a:pPr>
                      <a:r>
                        <a:t>Reaction</a:t>
                      </a:r>
                    </a:p>
                  </a:txBody>
                  <a:tcPr>
                    <a:solidFill>
                      <a:srgbClr val="244E78"/>
                    </a:solidFill>
                  </a:tcPr>
                </a:tc>
                <a:tc>
                  <a:txBody>
                    <a:bodyPr/>
                    <a:lstStyle/>
                    <a:p>
                      <a:pPr>
                        <a:defRPr sz="900" b="1">
                          <a:solidFill>
                            <a:srgbClr val="FFFFFF"/>
                          </a:solidFill>
                        </a:defRPr>
                      </a:pPr>
                      <a:r>
                        <a:t>Responsibility</a:t>
                      </a:r>
                    </a:p>
                  </a:txBody>
                  <a:tcPr>
                    <a:solidFill>
                      <a:srgbClr val="244E78"/>
                    </a:solidFill>
                  </a:tcPr>
                </a:tc>
              </a:tr>
              <a:tr h="757645">
                <a:tc>
                  <a:txBody>
                    <a:bodyPr/>
                    <a:lstStyle/>
                    <a:p>
                      <a:pPr>
                        <a:defRPr sz="900">
                          <a:solidFill>
                            <a:srgbClr val="000000"/>
                          </a:solidFill>
                        </a:defRPr>
                      </a:pPr>
                      <a:r>
                        <a:t>Ra out of spec</a:t>
                      </a:r>
                    </a:p>
                  </a:txBody>
                  <a:tcPr/>
                </a:tc>
                <a:tc>
                  <a:txBody>
                    <a:bodyPr/>
                    <a:lstStyle/>
                    <a:p>
                      <a:pPr>
                        <a:defRPr sz="900">
                          <a:solidFill>
                            <a:srgbClr val="000000"/>
                          </a:solidFill>
                        </a:defRPr>
                      </a:pPr>
                      <a:r>
                        <a:t>Reading &gt; 70 Ra</a:t>
                      </a:r>
                    </a:p>
                  </a:txBody>
                  <a:tcPr/>
                </a:tc>
                <a:tc>
                  <a:txBody>
                    <a:bodyPr/>
                    <a:lstStyle/>
                    <a:p>
                      <a:pPr>
                        <a:defRPr sz="900">
                          <a:solidFill>
                            <a:srgbClr val="000000"/>
                          </a:solidFill>
                        </a:defRPr>
                      </a:pPr>
                      <a:r>
                        <a:t>Stop, inspect belt, measure again. Replace if worn. Re-sand affected parts.</a:t>
                      </a:r>
                    </a:p>
                  </a:txBody>
                  <a:tcPr/>
                </a:tc>
                <a:tc>
                  <a:txBody>
                    <a:bodyPr/>
                    <a:lstStyle/>
                    <a:p>
                      <a:pPr>
                        <a:defRPr sz="900">
                          <a:solidFill>
                            <a:srgbClr val="000000"/>
                          </a:solidFill>
                        </a:defRPr>
                      </a:pPr>
                      <a:r>
                        <a:t>Operator/Quality</a:t>
                      </a:r>
                    </a:p>
                  </a:txBody>
                  <a:tcPr/>
                </a:tc>
              </a:tr>
              <a:tr h="757645">
                <a:tc>
                  <a:txBody>
                    <a:bodyPr/>
                    <a:lstStyle/>
                    <a:p>
                      <a:pPr>
                        <a:defRPr sz="900">
                          <a:solidFill>
                            <a:srgbClr val="000000"/>
                          </a:solidFill>
                        </a:defRPr>
                      </a:pPr>
                      <a:r>
                        <a:t>Dimples found</a:t>
                      </a:r>
                    </a:p>
                  </a:txBody>
                  <a:tcPr>
                    <a:solidFill>
                      <a:srgbClr val="F5F5F5"/>
                    </a:solidFill>
                  </a:tcPr>
                </a:tc>
                <a:tc>
                  <a:txBody>
                    <a:bodyPr/>
                    <a:lstStyle/>
                    <a:p>
                      <a:pPr>
                        <a:defRPr sz="900">
                          <a:solidFill>
                            <a:srgbClr val="000000"/>
                          </a:solidFill>
                        </a:defRPr>
                      </a:pPr>
                      <a:r>
                        <a:t>Visual or gage check</a:t>
                      </a:r>
                    </a:p>
                  </a:txBody>
                  <a:tcPr>
                    <a:solidFill>
                      <a:srgbClr val="F5F5F5"/>
                    </a:solidFill>
                  </a:tcPr>
                </a:tc>
                <a:tc>
                  <a:txBody>
                    <a:bodyPr/>
                    <a:lstStyle/>
                    <a:p>
                      <a:pPr>
                        <a:defRPr sz="900">
                          <a:solidFill>
                            <a:srgbClr val="000000"/>
                          </a:solidFill>
                        </a:defRPr>
                      </a:pPr>
                      <a:r>
                        <a:t>Stop sanding, review pressure and dwell. Re-gage next part. Rework if necessary.</a:t>
                      </a:r>
                    </a:p>
                  </a:txBody>
                  <a:tcPr>
                    <a:solidFill>
                      <a:srgbClr val="F5F5F5"/>
                    </a:solidFill>
                  </a:tcPr>
                </a:tc>
                <a:tc>
                  <a:txBody>
                    <a:bodyPr/>
                    <a:lstStyle/>
                    <a:p>
                      <a:pPr>
                        <a:defRPr sz="900">
                          <a:solidFill>
                            <a:srgbClr val="000000"/>
                          </a:solidFill>
                        </a:defRPr>
                      </a:pPr>
                      <a:r>
                        <a:t>Operator/Mfg Engineer</a:t>
                      </a:r>
                    </a:p>
                  </a:txBody>
                  <a:tcPr>
                    <a:solidFill>
                      <a:srgbClr val="F5F5F5"/>
                    </a:solidFill>
                  </a:tcPr>
                </a:tc>
              </a:tr>
              <a:tr h="757645">
                <a:tc>
                  <a:txBody>
                    <a:bodyPr/>
                    <a:lstStyle/>
                    <a:p>
                      <a:pPr>
                        <a:defRPr sz="900">
                          <a:solidFill>
                            <a:srgbClr val="000000"/>
                          </a:solidFill>
                        </a:defRPr>
                      </a:pPr>
                      <a:r>
                        <a:t>Frosting observed</a:t>
                      </a:r>
                    </a:p>
                  </a:txBody>
                  <a:tcPr/>
                </a:tc>
                <a:tc>
                  <a:txBody>
                    <a:bodyPr/>
                    <a:lstStyle/>
                    <a:p>
                      <a:pPr>
                        <a:defRPr sz="900">
                          <a:solidFill>
                            <a:srgbClr val="000000"/>
                          </a:solidFill>
                        </a:defRPr>
                      </a:pPr>
                      <a:r>
                        <a:t>Visual or marker check</a:t>
                      </a:r>
                    </a:p>
                  </a:txBody>
                  <a:tcPr/>
                </a:tc>
                <a:tc>
                  <a:txBody>
                    <a:bodyPr/>
                    <a:lstStyle/>
                    <a:p>
                      <a:pPr>
                        <a:defRPr sz="900">
                          <a:solidFill>
                            <a:srgbClr val="000000"/>
                          </a:solidFill>
                        </a:defRPr>
                      </a:pPr>
                      <a:r>
                        <a:t>Review 80 grit passes. Confirm marker check followed. Rework affected parts.</a:t>
                      </a:r>
                    </a:p>
                  </a:txBody>
                  <a:tcPr/>
                </a:tc>
                <a:tc>
                  <a:txBody>
                    <a:bodyPr/>
                    <a:lstStyle/>
                    <a:p>
                      <a:pPr>
                        <a:defRPr sz="900">
                          <a:solidFill>
                            <a:srgbClr val="000000"/>
                          </a:solidFill>
                        </a:defRPr>
                      </a:pPr>
                      <a:r>
                        <a:t>Operator/Mfg Engineer</a:t>
                      </a:r>
                    </a:p>
                  </a:txBody>
                  <a:tcPr/>
                </a:tc>
              </a:tr>
              <a:tr h="757645">
                <a:tc>
                  <a:txBody>
                    <a:bodyPr/>
                    <a:lstStyle/>
                    <a:p>
                      <a:pPr>
                        <a:defRPr sz="900">
                          <a:solidFill>
                            <a:srgbClr val="000000"/>
                          </a:solidFill>
                        </a:defRPr>
                      </a:pPr>
                      <a:r>
                        <a:t>Burn marks</a:t>
                      </a:r>
                    </a:p>
                  </a:txBody>
                  <a:tcPr>
                    <a:solidFill>
                      <a:srgbClr val="F5F5F5"/>
                    </a:solidFill>
                  </a:tcPr>
                </a:tc>
                <a:tc>
                  <a:txBody>
                    <a:bodyPr/>
                    <a:lstStyle/>
                    <a:p>
                      <a:pPr>
                        <a:defRPr sz="900">
                          <a:solidFill>
                            <a:srgbClr val="000000"/>
                          </a:solidFill>
                        </a:defRPr>
                      </a:pPr>
                      <a:r>
                        <a:t>Visual inspection</a:t>
                      </a:r>
                    </a:p>
                  </a:txBody>
                  <a:tcPr>
                    <a:solidFill>
                      <a:srgbClr val="F5F5F5"/>
                    </a:solidFill>
                  </a:tcPr>
                </a:tc>
                <a:tc>
                  <a:txBody>
                    <a:bodyPr/>
                    <a:lstStyle/>
                    <a:p>
                      <a:pPr>
                        <a:defRPr sz="900">
                          <a:solidFill>
                            <a:srgbClr val="000000"/>
                          </a:solidFill>
                        </a:defRPr>
                      </a:pPr>
                      <a:r>
                        <a:t>Reduce sanding speed and increase belt travel. Review cooling. Rework parts.</a:t>
                      </a:r>
                    </a:p>
                  </a:txBody>
                  <a:tcPr>
                    <a:solidFill>
                      <a:srgbClr val="F5F5F5"/>
                    </a:solidFill>
                  </a:tcPr>
                </a:tc>
                <a:tc>
                  <a:txBody>
                    <a:bodyPr/>
                    <a:lstStyle/>
                    <a:p>
                      <a:pPr>
                        <a:defRPr sz="900">
                          <a:solidFill>
                            <a:srgbClr val="000000"/>
                          </a:solidFill>
                        </a:defRPr>
                      </a:pPr>
                      <a:r>
                        <a:t>Operator/Mfg Engineer</a:t>
                      </a:r>
                    </a:p>
                  </a:txBody>
                  <a:tcPr>
                    <a:solidFill>
                      <a:srgbClr val="F5F5F5"/>
                    </a:solidFill>
                  </a:tcPr>
                </a:tc>
              </a:tr>
              <a:tr h="757645">
                <a:tc>
                  <a:txBody>
                    <a:bodyPr/>
                    <a:lstStyle/>
                    <a:p>
                      <a:pPr>
                        <a:defRPr sz="900">
                          <a:solidFill>
                            <a:srgbClr val="000000"/>
                          </a:solidFill>
                        </a:defRPr>
                      </a:pPr>
                      <a:r>
                        <a:t>Barber pole effect</a:t>
                      </a:r>
                    </a:p>
                  </a:txBody>
                  <a:tcPr/>
                </a:tc>
                <a:tc>
                  <a:txBody>
                    <a:bodyPr/>
                    <a:lstStyle/>
                    <a:p>
                      <a:pPr>
                        <a:defRPr sz="900">
                          <a:solidFill>
                            <a:srgbClr val="000000"/>
                          </a:solidFill>
                        </a:defRPr>
                      </a:pPr>
                      <a:r>
                        <a:t>Visual inspection</a:t>
                      </a:r>
                    </a:p>
                  </a:txBody>
                  <a:tcPr/>
                </a:tc>
                <a:tc>
                  <a:txBody>
                    <a:bodyPr/>
                    <a:lstStyle/>
                    <a:p>
                      <a:pPr>
                        <a:defRPr sz="900">
                          <a:solidFill>
                            <a:srgbClr val="000000"/>
                          </a:solidFill>
                        </a:defRPr>
                      </a:pPr>
                      <a:r>
                        <a:t>Confirm machine centering. Adjust sander height if needed every 40 parts.</a:t>
                      </a:r>
                    </a:p>
                  </a:txBody>
                  <a:tcPr/>
                </a:tc>
                <a:tc>
                  <a:txBody>
                    <a:bodyPr/>
                    <a:lstStyle/>
                    <a:p>
                      <a:pPr>
                        <a:defRPr sz="900">
                          <a:solidFill>
                            <a:srgbClr val="000000"/>
                          </a:solidFill>
                        </a:defRPr>
                      </a:pPr>
                      <a:r>
                        <a:t>Production Supervisor</a:t>
                      </a:r>
                    </a:p>
                  </a:txBody>
                  <a:tcPr/>
                </a:tc>
              </a:tr>
              <a:tr h="757650">
                <a:tc>
                  <a:txBody>
                    <a:bodyPr/>
                    <a:lstStyle/>
                    <a:p>
                      <a:pPr>
                        <a:defRPr sz="900">
                          <a:solidFill>
                            <a:srgbClr val="000000"/>
                          </a:solidFill>
                        </a:defRPr>
                      </a:pPr>
                      <a:r>
                        <a:t>Belt exceeds 20 parts</a:t>
                      </a:r>
                    </a:p>
                  </a:txBody>
                  <a:tcPr>
                    <a:solidFill>
                      <a:srgbClr val="F5F5F5"/>
                    </a:solidFill>
                  </a:tcPr>
                </a:tc>
                <a:tc>
                  <a:txBody>
                    <a:bodyPr/>
                    <a:lstStyle/>
                    <a:p>
                      <a:pPr>
                        <a:defRPr sz="900">
                          <a:solidFill>
                            <a:srgbClr val="000000"/>
                          </a:solidFill>
                        </a:defRPr>
                      </a:pPr>
                      <a:r>
                        <a:t>Operator count</a:t>
                      </a:r>
                    </a:p>
                  </a:txBody>
                  <a:tcPr>
                    <a:solidFill>
                      <a:srgbClr val="F5F5F5"/>
                    </a:solidFill>
                  </a:tcPr>
                </a:tc>
                <a:tc>
                  <a:txBody>
                    <a:bodyPr/>
                    <a:lstStyle/>
                    <a:p>
                      <a:pPr>
                        <a:defRPr sz="900">
                          <a:solidFill>
                            <a:srgbClr val="000000"/>
                          </a:solidFill>
                        </a:defRPr>
                      </a:pPr>
                      <a:r>
                        <a:t>Replace belt immediately. Do not sand further parts on worn belt.</a:t>
                      </a:r>
                    </a:p>
                  </a:txBody>
                  <a:tcPr>
                    <a:solidFill>
                      <a:srgbClr val="F5F5F5"/>
                    </a:solidFill>
                  </a:tcPr>
                </a:tc>
                <a:tc>
                  <a:txBody>
                    <a:bodyPr/>
                    <a:lstStyle/>
                    <a:p>
                      <a:pPr>
                        <a:defRPr sz="900">
                          <a:solidFill>
                            <a:srgbClr val="000000"/>
                          </a:solidFill>
                        </a:defRPr>
                      </a:pPr>
                      <a:r>
                        <a:t>Operator/Supervisor</a:t>
                      </a:r>
                    </a:p>
                  </a:txBody>
                  <a:tcPr>
                    <a:solidFill>
                      <a:srgbClr val="F5F5F5"/>
                    </a:solidFill>
                  </a:tcPr>
                </a:tc>
              </a:tr>
            </a:tbl>
          </a:graphicData>
        </a:graphic>
      </p:graphicFrame>
    </p:spTree>
  </p:cSld>
  <p:clrMapOvr>
    <a:masterClrMapping/>
  </p:clrMapOvr>
</p:sld>
</file>

<file path=ppt/theme/theme1.xml><?xml version="1.0" encoding="utf-8"?>
<a:theme xmlns:a="http://schemas.openxmlformats.org/drawingml/2006/main" name="Retrospect">
  <a:themeElements>
    <a:clrScheme name="Custom 1">
      <a:dk1>
        <a:srgbClr val="000000"/>
      </a:dk1>
      <a:lt1>
        <a:sysClr val="window" lastClr="FFFFFF"/>
      </a:lt1>
      <a:dk2>
        <a:srgbClr val="637052"/>
      </a:dk2>
      <a:lt2>
        <a:srgbClr val="CCDDEA"/>
      </a:lt2>
      <a:accent1>
        <a:srgbClr val="3F739B"/>
      </a:accent1>
      <a:accent2>
        <a:srgbClr val="2F5674"/>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2702</TotalTime>
  <Words>1299</Words>
  <Application>Microsoft Office PowerPoint</Application>
  <PresentationFormat>Widescreen</PresentationFormat>
  <Paragraphs>188</Paragraphs>
  <Slides>18</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Calibri</vt:lpstr>
      <vt:lpstr>Calibri Light</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Ali Mohamadi</cp:lastModifiedBy>
  <cp:revision>11</cp:revision>
  <dcterms:created xsi:type="dcterms:W3CDTF">2026-07-21T16:01:18Z</dcterms:created>
  <dcterms:modified xsi:type="dcterms:W3CDTF">2026-10-14T15:31:14Z</dcterms:modified>
</cp:coreProperties>
</file>